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9" r:id="rId3"/>
    <p:sldId id="264" r:id="rId4"/>
    <p:sldId id="284" r:id="rId5"/>
    <p:sldId id="286" r:id="rId6"/>
    <p:sldId id="283" r:id="rId7"/>
    <p:sldId id="285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71CAB2-1FB3-847B-7A07-7199C85CBA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5E4B1F1-1FDC-7E8E-CCAB-11214413D5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61261B-6BF2-0C90-9DD2-37E7BB15C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9F6254-32E9-CF4C-4E07-DDC88DBF1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10276D-8038-E80D-D54B-9EAB9321B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2470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307A90-8276-BA64-4F49-201D25D24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DC7956-DDC8-1B55-F60B-3FE35C37B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D04CC2-C8C5-0623-C9BD-ED1E9F3FF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A881F8-17F6-F93B-55B9-849A901F4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262B3F-FC9A-4894-266A-11F9EA4E7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5198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328667-CF2B-71FB-A71E-76CFDF730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543A424-676D-6A5A-DDEB-2AFBCEDE9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FD6A73-EFA5-3399-2314-E2099A6CF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6FE0C1-7D04-D3E6-A616-B6DCC3BA2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DF378B-D3C9-C37C-CC08-917B63A9E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7226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D93BCC-36F1-F428-B4A3-8D3642C62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F94D82-0D47-0277-1831-3704D0D8A8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FF1887-0DE9-AC16-3CBB-F084FB4B60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0332362-6ACC-7043-4DC8-EA6656D95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24806F1-4E85-78D4-6B3A-F9FF0EFD2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9406F0-DF74-28AE-BCF9-3BA7D6B88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0816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FC6DEC-1E6B-E8DE-5168-E7B062BC0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0DB528-5B54-5B16-F5D7-F41BBAF47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3F7819C-000F-D8FB-3001-9958AB357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00BD4AD-E16A-86F2-F3B0-CA398CDA70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044B80E-EF1C-6B54-A198-2790F07F3B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61C37B8-09BA-7797-0E5E-3A6D2556E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5A1F8EC-DB76-21BB-06EA-BB8C80F33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10DDECF-D4BC-4CC7-F342-67A0C9DA2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12300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CD812E-7EBB-2A83-13FA-1B42FD0EE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9F5D4C9-D5B9-F5A3-0CE8-B6B041F3F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23B46FF-ADB0-2288-711B-E69D8739D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462AE15-E51E-09EE-E28B-4A70C1699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922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E77B56A-DC40-FB7F-2659-78F08D59A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286CBC-44BC-EFA4-E4BA-3E43D1A7F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02DC5B-B71D-0670-EB4A-2D88B0FFB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3599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BE112E-5E0C-2BED-9A5E-1CC3FB9B8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02257C-53F8-1FF9-DE8C-5C11F5963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324AFCA-3C7D-A7AD-7E2B-2CBE3CC76E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AD518D8-426C-697D-1118-37D813CB6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07D57DE-804F-C62E-F744-5EF3F3016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7A02859-1879-4C51-DDCF-F4830EEFD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8406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1C6C4C-D0F0-04DB-E5E2-EF596CD59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D372F09-5DE9-BA7B-7438-0977EF1B09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04228BF-4766-077A-B626-7F0BC8979B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B6DEAC5-78E9-E916-3703-B6736201B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098D3F8-63AF-C56A-D724-68F6E2B60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803D79D-F4A2-AADB-112C-8D7453EBD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0187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3E59A8-E512-54A5-41C8-58E78E9EC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6B5C30F-7941-EA8B-4444-E0DCE2171A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112CDE-09B3-8C5A-6502-8805C7660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8A5334-A123-0800-1C39-0A4EF5ABD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E0D738-CCB7-0AF8-5C09-C3B5416B1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5453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5C8B9F5-8F56-35F8-DD67-E9C4B65D2A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7C3E620-5945-010F-FEA5-689EC96BE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FEFD97-E671-AACD-E641-5BB5D2479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947791-EB0E-7E7F-D3CB-A2417AD5D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C85507-BA30-C5B8-79D4-50E890F72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269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1F63505-EF89-E26E-556C-0B71E38BF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CBB803A-5908-65E9-1E73-541E9BD1E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04FCA9-9C8A-E1DA-4C3D-D6E7816B0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3CC2DC-F11D-D440-551A-3099EDDC27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23D984-C111-95A4-8827-7F0D658CDB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8071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A05E123E-93D8-0B68-F71E-8D2769829D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446438"/>
              </p:ext>
            </p:extLst>
          </p:nvPr>
        </p:nvGraphicFramePr>
        <p:xfrm>
          <a:off x="1461697" y="1159678"/>
          <a:ext cx="8891136" cy="367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9520">
                  <a:extLst>
                    <a:ext uri="{9D8B030D-6E8A-4147-A177-3AD203B41FA5}">
                      <a16:colId xmlns:a16="http://schemas.microsoft.com/office/drawing/2014/main" val="4289832320"/>
                    </a:ext>
                  </a:extLst>
                </a:gridCol>
                <a:gridCol w="1111333">
                  <a:extLst>
                    <a:ext uri="{9D8B030D-6E8A-4147-A177-3AD203B41FA5}">
                      <a16:colId xmlns:a16="http://schemas.microsoft.com/office/drawing/2014/main" val="1412820800"/>
                    </a:ext>
                  </a:extLst>
                </a:gridCol>
                <a:gridCol w="1382867">
                  <a:extLst>
                    <a:ext uri="{9D8B030D-6E8A-4147-A177-3AD203B41FA5}">
                      <a16:colId xmlns:a16="http://schemas.microsoft.com/office/drawing/2014/main" val="2969004268"/>
                    </a:ext>
                  </a:extLst>
                </a:gridCol>
                <a:gridCol w="1177100">
                  <a:extLst>
                    <a:ext uri="{9D8B030D-6E8A-4147-A177-3AD203B41FA5}">
                      <a16:colId xmlns:a16="http://schemas.microsoft.com/office/drawing/2014/main" val="1843240588"/>
                    </a:ext>
                  </a:extLst>
                </a:gridCol>
                <a:gridCol w="1375550">
                  <a:extLst>
                    <a:ext uri="{9D8B030D-6E8A-4147-A177-3AD203B41FA5}">
                      <a16:colId xmlns:a16="http://schemas.microsoft.com/office/drawing/2014/main" val="1553718878"/>
                    </a:ext>
                  </a:extLst>
                </a:gridCol>
                <a:gridCol w="1302383">
                  <a:extLst>
                    <a:ext uri="{9D8B030D-6E8A-4147-A177-3AD203B41FA5}">
                      <a16:colId xmlns:a16="http://schemas.microsoft.com/office/drawing/2014/main" val="1464561780"/>
                    </a:ext>
                  </a:extLst>
                </a:gridCol>
                <a:gridCol w="1302383">
                  <a:extLst>
                    <a:ext uri="{9D8B030D-6E8A-4147-A177-3AD203B41FA5}">
                      <a16:colId xmlns:a16="http://schemas.microsoft.com/office/drawing/2014/main" val="26246572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err="1"/>
                        <a:t>Proveïdor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Client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Producte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Categoria</a:t>
                      </a:r>
                      <a:endParaRPr lang="es-ES" dirty="0"/>
                    </a:p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Factura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Telèfons</a:t>
                      </a:r>
                      <a:r>
                        <a:rPr lang="es-ES" dirty="0"/>
                        <a:t> varis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4043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s-ES" sz="1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Proveïdor</a:t>
                      </a:r>
                      <a:endParaRPr lang="es-E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/>
                        <a:t>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 err="1"/>
                        <a:t>emet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  <a:endParaRPr lang="es-E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43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Client</a:t>
                      </a:r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 err="1"/>
                        <a:t>rep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/>
                        <a:t>té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2487994"/>
                  </a:ext>
                </a:extLst>
              </a:tr>
              <a:tr h="483175">
                <a:tc>
                  <a:txBody>
                    <a:bodyPr/>
                    <a:lstStyle/>
                    <a:p>
                      <a:r>
                        <a:rPr lang="es-ES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Producte</a:t>
                      </a:r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0" dirty="0" err="1"/>
                        <a:t>és</a:t>
                      </a:r>
                      <a:r>
                        <a:rPr lang="es-ES" b="0" dirty="0"/>
                        <a:t> </a:t>
                      </a:r>
                      <a:r>
                        <a:rPr lang="es-ES" b="0" dirty="0" err="1"/>
                        <a:t>tingut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0" dirty="0" err="1"/>
                        <a:t>és</a:t>
                      </a:r>
                      <a:r>
                        <a:rPr lang="es-ES" b="0" dirty="0"/>
                        <a:t> </a:t>
                      </a:r>
                      <a:r>
                        <a:rPr lang="es-ES" b="0" dirty="0" err="1"/>
                        <a:t>contingut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0" dirty="0" err="1"/>
                        <a:t>és</a:t>
                      </a:r>
                      <a:r>
                        <a:rPr lang="es-ES" b="0" dirty="0"/>
                        <a:t> </a:t>
                      </a:r>
                      <a:r>
                        <a:rPr lang="es-ES" b="0" dirty="0" err="1"/>
                        <a:t>contingut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  <a:endParaRPr lang="es-E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866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Categoria</a:t>
                      </a:r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/>
                        <a:t>conté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  <a:endParaRPr lang="es-E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9159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Factura</a:t>
                      </a:r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 err="1"/>
                        <a:t>és</a:t>
                      </a:r>
                      <a:r>
                        <a:rPr lang="es-ES" b="0" dirty="0"/>
                        <a:t> </a:t>
                      </a:r>
                      <a:r>
                        <a:rPr lang="es-ES" b="0" dirty="0" err="1"/>
                        <a:t>emesa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0" dirty="0" err="1"/>
                        <a:t>és</a:t>
                      </a:r>
                      <a:r>
                        <a:rPr lang="es-ES" b="0" dirty="0"/>
                        <a:t> </a:t>
                      </a:r>
                      <a:r>
                        <a:rPr lang="es-ES" b="0" dirty="0" err="1"/>
                        <a:t>rebuda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/>
                        <a:t>conté</a:t>
                      </a:r>
                      <a:endParaRPr lang="es-E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 b="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  <a:endParaRPr lang="es-ES" b="0" dirty="0"/>
                    </a:p>
                    <a:p>
                      <a:pPr algn="ctr"/>
                      <a:endParaRPr lang="es-ES" b="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126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Telèfons</a:t>
                      </a:r>
                      <a:r>
                        <a:rPr lang="es-E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clients</a:t>
                      </a:r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0" dirty="0" err="1"/>
                        <a:t>és</a:t>
                      </a:r>
                      <a:r>
                        <a:rPr lang="es-ES" b="0" dirty="0"/>
                        <a:t> </a:t>
                      </a:r>
                      <a:r>
                        <a:rPr lang="es-ES" b="0" dirty="0" err="1"/>
                        <a:t>tingut</a:t>
                      </a:r>
                      <a:endParaRPr lang="es-ES" b="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b="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765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6926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F4A3C9A-1D09-623F-214B-4387AD8A1949}"/>
              </a:ext>
            </a:extLst>
          </p:cNvPr>
          <p:cNvSpPr/>
          <p:nvPr/>
        </p:nvSpPr>
        <p:spPr>
          <a:xfrm>
            <a:off x="5138464" y="967952"/>
            <a:ext cx="957533" cy="3896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CLIENT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4A2BCCB-23A2-B251-41A4-284C07CA11E6}"/>
              </a:ext>
            </a:extLst>
          </p:cNvPr>
          <p:cNvSpPr/>
          <p:nvPr/>
        </p:nvSpPr>
        <p:spPr>
          <a:xfrm>
            <a:off x="4923370" y="2677379"/>
            <a:ext cx="1410575" cy="3709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FACTURA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622A086-A3BB-0389-4AA8-21867C439A76}"/>
              </a:ext>
            </a:extLst>
          </p:cNvPr>
          <p:cNvSpPr/>
          <p:nvPr/>
        </p:nvSpPr>
        <p:spPr>
          <a:xfrm>
            <a:off x="4784783" y="4372876"/>
            <a:ext cx="1664898" cy="810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PROVEÏDOR</a:t>
            </a:r>
          </a:p>
        </p:txBody>
      </p:sp>
      <p:sp>
        <p:nvSpPr>
          <p:cNvPr id="12" name="Rombo 11">
            <a:extLst>
              <a:ext uri="{FF2B5EF4-FFF2-40B4-BE49-F238E27FC236}">
                <a16:creationId xmlns:a16="http://schemas.microsoft.com/office/drawing/2014/main" id="{678FAA2D-9332-A163-ADB2-FEB144E9D847}"/>
              </a:ext>
            </a:extLst>
          </p:cNvPr>
          <p:cNvSpPr/>
          <p:nvPr/>
        </p:nvSpPr>
        <p:spPr>
          <a:xfrm>
            <a:off x="4960187" y="1693652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rep</a:t>
            </a:r>
            <a:endParaRPr lang="es-ES" dirty="0"/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2D133C8-7C6A-FDA0-0C94-6EADD1F6B575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>
            <a:off x="5617231" y="1357578"/>
            <a:ext cx="2878" cy="3360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874C865D-AF32-B105-ED2C-12399E47D716}"/>
              </a:ext>
            </a:extLst>
          </p:cNvPr>
          <p:cNvCxnSpPr>
            <a:cxnSpLocks/>
            <a:stCxn id="12" idx="2"/>
            <a:endCxn id="5" idx="0"/>
          </p:cNvCxnSpPr>
          <p:nvPr/>
        </p:nvCxnSpPr>
        <p:spPr>
          <a:xfrm>
            <a:off x="5620109" y="2298938"/>
            <a:ext cx="8549" cy="3784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mbo 20">
            <a:extLst>
              <a:ext uri="{FF2B5EF4-FFF2-40B4-BE49-F238E27FC236}">
                <a16:creationId xmlns:a16="http://schemas.microsoft.com/office/drawing/2014/main" id="{36B6F621-9B09-11FA-73F0-20A8D03A8264}"/>
              </a:ext>
            </a:extLst>
          </p:cNvPr>
          <p:cNvSpPr/>
          <p:nvPr/>
        </p:nvSpPr>
        <p:spPr>
          <a:xfrm>
            <a:off x="4957310" y="3444100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err="1"/>
              <a:t>emet</a:t>
            </a:r>
            <a:endParaRPr lang="es-ES" sz="1400" dirty="0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E6B38457-FAE8-85B1-4CEB-C0637723F98B}"/>
              </a:ext>
            </a:extLst>
          </p:cNvPr>
          <p:cNvCxnSpPr>
            <a:cxnSpLocks/>
            <a:stCxn id="5" idx="2"/>
            <a:endCxn id="21" idx="0"/>
          </p:cNvCxnSpPr>
          <p:nvPr/>
        </p:nvCxnSpPr>
        <p:spPr>
          <a:xfrm flipH="1">
            <a:off x="5617232" y="3048314"/>
            <a:ext cx="11426" cy="395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6D86416B-B27F-E6E8-A760-AE0DBD441F59}"/>
              </a:ext>
            </a:extLst>
          </p:cNvPr>
          <p:cNvCxnSpPr>
            <a:cxnSpLocks/>
            <a:stCxn id="21" idx="2"/>
            <a:endCxn id="9" idx="0"/>
          </p:cNvCxnSpPr>
          <p:nvPr/>
        </p:nvCxnSpPr>
        <p:spPr>
          <a:xfrm>
            <a:off x="5617232" y="4049386"/>
            <a:ext cx="0" cy="3234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mbo 53">
            <a:extLst>
              <a:ext uri="{FF2B5EF4-FFF2-40B4-BE49-F238E27FC236}">
                <a16:creationId xmlns:a16="http://schemas.microsoft.com/office/drawing/2014/main" id="{EB46B8A8-D8DA-57C6-8FCF-F1A2B41DC6EE}"/>
              </a:ext>
            </a:extLst>
          </p:cNvPr>
          <p:cNvSpPr/>
          <p:nvPr/>
        </p:nvSpPr>
        <p:spPr>
          <a:xfrm>
            <a:off x="7231814" y="2651905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conté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B04A4645-09B7-0655-98B0-FEDDA6DCA404}"/>
              </a:ext>
            </a:extLst>
          </p:cNvPr>
          <p:cNvSpPr txBox="1"/>
          <p:nvPr/>
        </p:nvSpPr>
        <p:spPr>
          <a:xfrm>
            <a:off x="7607069" y="234017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C446C87C-95CE-2643-7BFF-53C5A370D12F}"/>
              </a:ext>
            </a:extLst>
          </p:cNvPr>
          <p:cNvSpPr txBox="1"/>
          <p:nvPr/>
        </p:nvSpPr>
        <p:spPr>
          <a:xfrm>
            <a:off x="6494261" y="262676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0B95AD6B-1576-893D-A75B-B2655A423177}"/>
              </a:ext>
            </a:extLst>
          </p:cNvPr>
          <p:cNvSpPr txBox="1"/>
          <p:nvPr/>
        </p:nvSpPr>
        <p:spPr>
          <a:xfrm>
            <a:off x="5550377" y="136333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C39BEADC-A81A-CA2D-B4FF-522964DD93E0}"/>
              </a:ext>
            </a:extLst>
          </p:cNvPr>
          <p:cNvSpPr txBox="1"/>
          <p:nvPr/>
        </p:nvSpPr>
        <p:spPr>
          <a:xfrm>
            <a:off x="5556846" y="231722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47F50C7E-E696-BAAD-739B-4D8AA750A11D}"/>
              </a:ext>
            </a:extLst>
          </p:cNvPr>
          <p:cNvSpPr txBox="1"/>
          <p:nvPr/>
        </p:nvSpPr>
        <p:spPr>
          <a:xfrm>
            <a:off x="6240491" y="182398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F543E768-1D50-51E7-091A-95D1CA4AE5B4}"/>
              </a:ext>
            </a:extLst>
          </p:cNvPr>
          <p:cNvSpPr txBox="1"/>
          <p:nvPr/>
        </p:nvSpPr>
        <p:spPr>
          <a:xfrm>
            <a:off x="5550377" y="314598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F5C6C7EE-EBF4-5F02-3EE5-C047B5FC01AB}"/>
              </a:ext>
            </a:extLst>
          </p:cNvPr>
          <p:cNvSpPr txBox="1"/>
          <p:nvPr/>
        </p:nvSpPr>
        <p:spPr>
          <a:xfrm>
            <a:off x="5550377" y="403351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3433218B-A8DB-11B9-30F1-4F9552C37053}"/>
              </a:ext>
            </a:extLst>
          </p:cNvPr>
          <p:cNvSpPr txBox="1"/>
          <p:nvPr/>
        </p:nvSpPr>
        <p:spPr>
          <a:xfrm>
            <a:off x="6273563" y="3587720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cxnSp>
        <p:nvCxnSpPr>
          <p:cNvPr id="82" name="Conector recto de flecha 81">
            <a:extLst>
              <a:ext uri="{FF2B5EF4-FFF2-40B4-BE49-F238E27FC236}">
                <a16:creationId xmlns:a16="http://schemas.microsoft.com/office/drawing/2014/main" id="{19294B18-87A5-11C4-41BB-0F23FFE42932}"/>
              </a:ext>
            </a:extLst>
          </p:cNvPr>
          <p:cNvCxnSpPr>
            <a:cxnSpLocks/>
          </p:cNvCxnSpPr>
          <p:nvPr/>
        </p:nvCxnSpPr>
        <p:spPr>
          <a:xfrm flipV="1">
            <a:off x="5559760" y="71869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476DC552-27AA-4D48-FBCE-28CFB600250C}"/>
              </a:ext>
            </a:extLst>
          </p:cNvPr>
          <p:cNvCxnSpPr>
            <a:cxnSpLocks/>
          </p:cNvCxnSpPr>
          <p:nvPr/>
        </p:nvCxnSpPr>
        <p:spPr>
          <a:xfrm flipV="1">
            <a:off x="5138464" y="71869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cto de flecha 90">
            <a:extLst>
              <a:ext uri="{FF2B5EF4-FFF2-40B4-BE49-F238E27FC236}">
                <a16:creationId xmlns:a16="http://schemas.microsoft.com/office/drawing/2014/main" id="{022DC1DA-0795-40C3-BA2C-1B8D1C92D605}"/>
              </a:ext>
            </a:extLst>
          </p:cNvPr>
          <p:cNvCxnSpPr>
            <a:cxnSpLocks/>
          </p:cNvCxnSpPr>
          <p:nvPr/>
        </p:nvCxnSpPr>
        <p:spPr>
          <a:xfrm flipV="1">
            <a:off x="5948630" y="71869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CuadroTexto 98">
            <a:extLst>
              <a:ext uri="{FF2B5EF4-FFF2-40B4-BE49-F238E27FC236}">
                <a16:creationId xmlns:a16="http://schemas.microsoft.com/office/drawing/2014/main" id="{13628AC2-E2EE-47FC-7EBF-558EBB3B396B}"/>
              </a:ext>
            </a:extLst>
          </p:cNvPr>
          <p:cNvSpPr txBox="1"/>
          <p:nvPr/>
        </p:nvSpPr>
        <p:spPr>
          <a:xfrm rot="19193406">
            <a:off x="4902547" y="289553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CIF/NIF</a:t>
            </a:r>
          </a:p>
        </p:txBody>
      </p: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A6F5B8FE-3933-8B07-B149-34B6D84FCC1E}"/>
              </a:ext>
            </a:extLst>
          </p:cNvPr>
          <p:cNvSpPr txBox="1"/>
          <p:nvPr/>
        </p:nvSpPr>
        <p:spPr>
          <a:xfrm rot="19193406">
            <a:off x="5351223" y="305344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</a:t>
            </a:r>
            <a:endParaRPr lang="es-ES" sz="1100" dirty="0"/>
          </a:p>
        </p:txBody>
      </p:sp>
      <p:sp>
        <p:nvSpPr>
          <p:cNvPr id="101" name="CuadroTexto 100">
            <a:extLst>
              <a:ext uri="{FF2B5EF4-FFF2-40B4-BE49-F238E27FC236}">
                <a16:creationId xmlns:a16="http://schemas.microsoft.com/office/drawing/2014/main" id="{D341D413-1B72-832F-69FA-DF7BC56C89C5}"/>
              </a:ext>
            </a:extLst>
          </p:cNvPr>
          <p:cNvSpPr txBox="1"/>
          <p:nvPr/>
        </p:nvSpPr>
        <p:spPr>
          <a:xfrm rot="19193406">
            <a:off x="5686842" y="142305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direcció</a:t>
            </a:r>
            <a:endParaRPr lang="es-ES" sz="1100" dirty="0"/>
          </a:p>
        </p:txBody>
      </p: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EDB05C8D-C9BF-204B-CC26-EF0A6B50F5F9}"/>
              </a:ext>
            </a:extLst>
          </p:cNvPr>
          <p:cNvSpPr txBox="1"/>
          <p:nvPr/>
        </p:nvSpPr>
        <p:spPr>
          <a:xfrm>
            <a:off x="6216408" y="1039431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ID_client</a:t>
            </a:r>
            <a:endParaRPr lang="es-ES" sz="1100" dirty="0"/>
          </a:p>
        </p:txBody>
      </p:sp>
      <p:cxnSp>
        <p:nvCxnSpPr>
          <p:cNvPr id="130" name="Conector recto de flecha 129">
            <a:extLst>
              <a:ext uri="{FF2B5EF4-FFF2-40B4-BE49-F238E27FC236}">
                <a16:creationId xmlns:a16="http://schemas.microsoft.com/office/drawing/2014/main" id="{9171CC53-3CED-CF68-792E-D7C7CFB826A1}"/>
              </a:ext>
            </a:extLst>
          </p:cNvPr>
          <p:cNvCxnSpPr>
            <a:cxnSpLocks/>
          </p:cNvCxnSpPr>
          <p:nvPr/>
        </p:nvCxnSpPr>
        <p:spPr>
          <a:xfrm rot="10800000" flipV="1">
            <a:off x="5249170" y="5188095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ector recto de flecha 130">
            <a:extLst>
              <a:ext uri="{FF2B5EF4-FFF2-40B4-BE49-F238E27FC236}">
                <a16:creationId xmlns:a16="http://schemas.microsoft.com/office/drawing/2014/main" id="{2CC4108D-58D7-4D16-2F6B-D357D90A412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149711" y="5194548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CuadroTexto 131">
            <a:extLst>
              <a:ext uri="{FF2B5EF4-FFF2-40B4-BE49-F238E27FC236}">
                <a16:creationId xmlns:a16="http://schemas.microsoft.com/office/drawing/2014/main" id="{F823EE32-110C-A9A6-78CF-D2F6D185137D}"/>
              </a:ext>
            </a:extLst>
          </p:cNvPr>
          <p:cNvSpPr txBox="1"/>
          <p:nvPr/>
        </p:nvSpPr>
        <p:spPr>
          <a:xfrm rot="19193406">
            <a:off x="4797039" y="5476832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CIF/NIF</a:t>
            </a:r>
          </a:p>
        </p:txBody>
      </p:sp>
      <p:sp>
        <p:nvSpPr>
          <p:cNvPr id="133" name="CuadroTexto 132">
            <a:extLst>
              <a:ext uri="{FF2B5EF4-FFF2-40B4-BE49-F238E27FC236}">
                <a16:creationId xmlns:a16="http://schemas.microsoft.com/office/drawing/2014/main" id="{3196C921-E2AC-D387-915B-2B6EEB51BF2F}"/>
              </a:ext>
            </a:extLst>
          </p:cNvPr>
          <p:cNvSpPr txBox="1"/>
          <p:nvPr/>
        </p:nvSpPr>
        <p:spPr>
          <a:xfrm rot="19193406">
            <a:off x="5687147" y="5316374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</a:t>
            </a:r>
            <a:endParaRPr lang="es-ES" sz="110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2CFD351-A2B8-EE30-2400-6566FEBD7755}"/>
              </a:ext>
            </a:extLst>
          </p:cNvPr>
          <p:cNvSpPr/>
          <p:nvPr/>
        </p:nvSpPr>
        <p:spPr>
          <a:xfrm>
            <a:off x="9141171" y="2708804"/>
            <a:ext cx="1512494" cy="556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PRODUCTE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865CFB14-6049-8DBC-4DF9-BD019442EC62}"/>
              </a:ext>
            </a:extLst>
          </p:cNvPr>
          <p:cNvCxnSpPr>
            <a:cxnSpLocks/>
            <a:stCxn id="54" idx="3"/>
            <a:endCxn id="15" idx="1"/>
          </p:cNvCxnSpPr>
          <p:nvPr/>
        </p:nvCxnSpPr>
        <p:spPr>
          <a:xfrm>
            <a:off x="8551657" y="2954548"/>
            <a:ext cx="589514" cy="324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ángulo 83">
            <a:extLst>
              <a:ext uri="{FF2B5EF4-FFF2-40B4-BE49-F238E27FC236}">
                <a16:creationId xmlns:a16="http://schemas.microsoft.com/office/drawing/2014/main" id="{E34B8469-00C4-0B00-AADE-E303AB86029F}"/>
              </a:ext>
            </a:extLst>
          </p:cNvPr>
          <p:cNvSpPr/>
          <p:nvPr/>
        </p:nvSpPr>
        <p:spPr>
          <a:xfrm>
            <a:off x="9246899" y="522734"/>
            <a:ext cx="1512494" cy="556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CATEGORIA</a:t>
            </a:r>
          </a:p>
        </p:txBody>
      </p:sp>
      <p:sp>
        <p:nvSpPr>
          <p:cNvPr id="85" name="Rombo 84">
            <a:extLst>
              <a:ext uri="{FF2B5EF4-FFF2-40B4-BE49-F238E27FC236}">
                <a16:creationId xmlns:a16="http://schemas.microsoft.com/office/drawing/2014/main" id="{498C5903-F81C-4638-BC9E-BC35F562299C}"/>
              </a:ext>
            </a:extLst>
          </p:cNvPr>
          <p:cNvSpPr/>
          <p:nvPr/>
        </p:nvSpPr>
        <p:spPr>
          <a:xfrm>
            <a:off x="9246899" y="1429151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conté</a:t>
            </a:r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D96D35B8-0898-AD54-0A3D-FF208A2969EF}"/>
              </a:ext>
            </a:extLst>
          </p:cNvPr>
          <p:cNvSpPr txBox="1"/>
          <p:nvPr/>
        </p:nvSpPr>
        <p:spPr>
          <a:xfrm>
            <a:off x="10563152" y="157277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88" name="Rombo 87">
            <a:extLst>
              <a:ext uri="{FF2B5EF4-FFF2-40B4-BE49-F238E27FC236}">
                <a16:creationId xmlns:a16="http://schemas.microsoft.com/office/drawing/2014/main" id="{EF56E7C3-BFB9-0299-C856-6F58EADCF64F}"/>
              </a:ext>
            </a:extLst>
          </p:cNvPr>
          <p:cNvSpPr/>
          <p:nvPr/>
        </p:nvSpPr>
        <p:spPr>
          <a:xfrm>
            <a:off x="7607069" y="4511708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té</a:t>
            </a:r>
          </a:p>
        </p:txBody>
      </p:sp>
      <p:cxnSp>
        <p:nvCxnSpPr>
          <p:cNvPr id="89" name="Conector: angular 88">
            <a:extLst>
              <a:ext uri="{FF2B5EF4-FFF2-40B4-BE49-F238E27FC236}">
                <a16:creationId xmlns:a16="http://schemas.microsoft.com/office/drawing/2014/main" id="{4B02DE7F-C2C8-2BA9-84F3-889642D3884D}"/>
              </a:ext>
            </a:extLst>
          </p:cNvPr>
          <p:cNvCxnSpPr>
            <a:cxnSpLocks/>
            <a:stCxn id="9" idx="3"/>
            <a:endCxn id="88" idx="1"/>
          </p:cNvCxnSpPr>
          <p:nvPr/>
        </p:nvCxnSpPr>
        <p:spPr>
          <a:xfrm>
            <a:off x="6449681" y="4778318"/>
            <a:ext cx="1157388" cy="36033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ector recto 135">
            <a:extLst>
              <a:ext uri="{FF2B5EF4-FFF2-40B4-BE49-F238E27FC236}">
                <a16:creationId xmlns:a16="http://schemas.microsoft.com/office/drawing/2014/main" id="{D234757A-CD5A-1273-CDA8-E66210A248C4}"/>
              </a:ext>
            </a:extLst>
          </p:cNvPr>
          <p:cNvCxnSpPr>
            <a:stCxn id="84" idx="2"/>
            <a:endCxn id="85" idx="0"/>
          </p:cNvCxnSpPr>
          <p:nvPr/>
        </p:nvCxnSpPr>
        <p:spPr>
          <a:xfrm flipH="1">
            <a:off x="9906821" y="1079139"/>
            <a:ext cx="96325" cy="3500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ector recto 137">
            <a:extLst>
              <a:ext uri="{FF2B5EF4-FFF2-40B4-BE49-F238E27FC236}">
                <a16:creationId xmlns:a16="http://schemas.microsoft.com/office/drawing/2014/main" id="{E5DD797A-2B61-5C61-9C09-C69CE045101F}"/>
              </a:ext>
            </a:extLst>
          </p:cNvPr>
          <p:cNvCxnSpPr>
            <a:stCxn id="85" idx="2"/>
            <a:endCxn id="15" idx="0"/>
          </p:cNvCxnSpPr>
          <p:nvPr/>
        </p:nvCxnSpPr>
        <p:spPr>
          <a:xfrm flipH="1">
            <a:off x="9897418" y="2034437"/>
            <a:ext cx="9403" cy="6743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CuadroTexto 138">
            <a:extLst>
              <a:ext uri="{FF2B5EF4-FFF2-40B4-BE49-F238E27FC236}">
                <a16:creationId xmlns:a16="http://schemas.microsoft.com/office/drawing/2014/main" id="{3FF7B651-C804-EDB3-600C-F0B5B61AE311}"/>
              </a:ext>
            </a:extLst>
          </p:cNvPr>
          <p:cNvSpPr txBox="1"/>
          <p:nvPr/>
        </p:nvSpPr>
        <p:spPr>
          <a:xfrm>
            <a:off x="9879500" y="2178057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140" name="CuadroTexto 139">
            <a:extLst>
              <a:ext uri="{FF2B5EF4-FFF2-40B4-BE49-F238E27FC236}">
                <a16:creationId xmlns:a16="http://schemas.microsoft.com/office/drawing/2014/main" id="{A1358418-8775-C20D-C7D1-5A664B8DCDBD}"/>
              </a:ext>
            </a:extLst>
          </p:cNvPr>
          <p:cNvSpPr txBox="1"/>
          <p:nvPr/>
        </p:nvSpPr>
        <p:spPr>
          <a:xfrm>
            <a:off x="9975825" y="109052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cxnSp>
        <p:nvCxnSpPr>
          <p:cNvPr id="141" name="Conector recto de flecha 140">
            <a:extLst>
              <a:ext uri="{FF2B5EF4-FFF2-40B4-BE49-F238E27FC236}">
                <a16:creationId xmlns:a16="http://schemas.microsoft.com/office/drawing/2014/main" id="{9B4DEAA3-5AA9-696B-FF21-0F61E46E06D6}"/>
              </a:ext>
            </a:extLst>
          </p:cNvPr>
          <p:cNvCxnSpPr>
            <a:cxnSpLocks/>
          </p:cNvCxnSpPr>
          <p:nvPr/>
        </p:nvCxnSpPr>
        <p:spPr>
          <a:xfrm flipH="1">
            <a:off x="9001772" y="730726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CuadroTexto 141">
            <a:extLst>
              <a:ext uri="{FF2B5EF4-FFF2-40B4-BE49-F238E27FC236}">
                <a16:creationId xmlns:a16="http://schemas.microsoft.com/office/drawing/2014/main" id="{4AC1C1A5-3781-B61A-8F51-179B51AD34C2}"/>
              </a:ext>
            </a:extLst>
          </p:cNvPr>
          <p:cNvSpPr txBox="1"/>
          <p:nvPr/>
        </p:nvSpPr>
        <p:spPr>
          <a:xfrm>
            <a:off x="8417097" y="587891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ID_cat</a:t>
            </a:r>
            <a:endParaRPr lang="es-ES" sz="1100" dirty="0"/>
          </a:p>
        </p:txBody>
      </p:sp>
      <p:cxnSp>
        <p:nvCxnSpPr>
          <p:cNvPr id="143" name="Conector recto de flecha 142">
            <a:extLst>
              <a:ext uri="{FF2B5EF4-FFF2-40B4-BE49-F238E27FC236}">
                <a16:creationId xmlns:a16="http://schemas.microsoft.com/office/drawing/2014/main" id="{0CD6EFFA-9678-BC83-A681-CBE13A5B0FC7}"/>
              </a:ext>
            </a:extLst>
          </p:cNvPr>
          <p:cNvCxnSpPr>
            <a:cxnSpLocks/>
          </p:cNvCxnSpPr>
          <p:nvPr/>
        </p:nvCxnSpPr>
        <p:spPr>
          <a:xfrm flipV="1">
            <a:off x="9906821" y="39810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ector recto de flecha 143">
            <a:extLst>
              <a:ext uri="{FF2B5EF4-FFF2-40B4-BE49-F238E27FC236}">
                <a16:creationId xmlns:a16="http://schemas.microsoft.com/office/drawing/2014/main" id="{BE539A50-CE93-0805-5A89-941D473B145D}"/>
              </a:ext>
            </a:extLst>
          </p:cNvPr>
          <p:cNvCxnSpPr>
            <a:cxnSpLocks/>
          </p:cNvCxnSpPr>
          <p:nvPr/>
        </p:nvCxnSpPr>
        <p:spPr>
          <a:xfrm flipV="1">
            <a:off x="9485525" y="39810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CuadroTexto 144">
            <a:extLst>
              <a:ext uri="{FF2B5EF4-FFF2-40B4-BE49-F238E27FC236}">
                <a16:creationId xmlns:a16="http://schemas.microsoft.com/office/drawing/2014/main" id="{CE29371B-2CC3-A33D-248E-6F7710C6AD6A}"/>
              </a:ext>
            </a:extLst>
          </p:cNvPr>
          <p:cNvSpPr txBox="1"/>
          <p:nvPr/>
        </p:nvSpPr>
        <p:spPr>
          <a:xfrm rot="19193406">
            <a:off x="9240918" y="-65669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</a:t>
            </a:r>
            <a:endParaRPr lang="es-ES" sz="1100" dirty="0"/>
          </a:p>
        </p:txBody>
      </p:sp>
      <p:sp>
        <p:nvSpPr>
          <p:cNvPr id="146" name="CuadroTexto 145">
            <a:extLst>
              <a:ext uri="{FF2B5EF4-FFF2-40B4-BE49-F238E27FC236}">
                <a16:creationId xmlns:a16="http://schemas.microsoft.com/office/drawing/2014/main" id="{E62D0053-B93A-3226-A1D3-5BE49015CCDA}"/>
              </a:ext>
            </a:extLst>
          </p:cNvPr>
          <p:cNvSpPr txBox="1"/>
          <p:nvPr/>
        </p:nvSpPr>
        <p:spPr>
          <a:xfrm>
            <a:off x="9723687" y="65745"/>
            <a:ext cx="10951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descripció</a:t>
            </a:r>
            <a:endParaRPr lang="es-ES" sz="1100" dirty="0"/>
          </a:p>
        </p:txBody>
      </p:sp>
      <p:cxnSp>
        <p:nvCxnSpPr>
          <p:cNvPr id="147" name="Conector recto de flecha 146">
            <a:extLst>
              <a:ext uri="{FF2B5EF4-FFF2-40B4-BE49-F238E27FC236}">
                <a16:creationId xmlns:a16="http://schemas.microsoft.com/office/drawing/2014/main" id="{37D04916-CEE3-ACF7-44F1-98B8041BF309}"/>
              </a:ext>
            </a:extLst>
          </p:cNvPr>
          <p:cNvCxnSpPr>
            <a:cxnSpLocks/>
          </p:cNvCxnSpPr>
          <p:nvPr/>
        </p:nvCxnSpPr>
        <p:spPr>
          <a:xfrm rot="10800000" flipH="1">
            <a:off x="10396375" y="3013213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CuadroTexto 147">
            <a:extLst>
              <a:ext uri="{FF2B5EF4-FFF2-40B4-BE49-F238E27FC236}">
                <a16:creationId xmlns:a16="http://schemas.microsoft.com/office/drawing/2014/main" id="{A7F8449E-D681-FCE9-14E4-8E7CA4176E33}"/>
              </a:ext>
            </a:extLst>
          </p:cNvPr>
          <p:cNvSpPr txBox="1"/>
          <p:nvPr/>
        </p:nvSpPr>
        <p:spPr>
          <a:xfrm>
            <a:off x="10759393" y="2897506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ID_prod</a:t>
            </a:r>
            <a:endParaRPr lang="es-ES" sz="1100" dirty="0"/>
          </a:p>
        </p:txBody>
      </p:sp>
      <p:cxnSp>
        <p:nvCxnSpPr>
          <p:cNvPr id="150" name="Conector recto de flecha 149">
            <a:extLst>
              <a:ext uri="{FF2B5EF4-FFF2-40B4-BE49-F238E27FC236}">
                <a16:creationId xmlns:a16="http://schemas.microsoft.com/office/drawing/2014/main" id="{01488FAA-3CFD-BAAD-A223-7398CD4A5D9D}"/>
              </a:ext>
            </a:extLst>
          </p:cNvPr>
          <p:cNvCxnSpPr>
            <a:cxnSpLocks/>
          </p:cNvCxnSpPr>
          <p:nvPr/>
        </p:nvCxnSpPr>
        <p:spPr>
          <a:xfrm rot="10800000" flipV="1">
            <a:off x="9461117" y="3194844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CuadroTexto 151">
            <a:extLst>
              <a:ext uri="{FF2B5EF4-FFF2-40B4-BE49-F238E27FC236}">
                <a16:creationId xmlns:a16="http://schemas.microsoft.com/office/drawing/2014/main" id="{F2D1423D-9A0E-87CC-4BA1-A5BB1DE87270}"/>
              </a:ext>
            </a:extLst>
          </p:cNvPr>
          <p:cNvSpPr txBox="1"/>
          <p:nvPr/>
        </p:nvSpPr>
        <p:spPr>
          <a:xfrm rot="19193406">
            <a:off x="9108349" y="3462584"/>
            <a:ext cx="4737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</a:t>
            </a:r>
            <a:endParaRPr lang="es-ES" sz="1100" dirty="0"/>
          </a:p>
        </p:txBody>
      </p:sp>
      <p:cxnSp>
        <p:nvCxnSpPr>
          <p:cNvPr id="155" name="Conector recto de flecha 154">
            <a:extLst>
              <a:ext uri="{FF2B5EF4-FFF2-40B4-BE49-F238E27FC236}">
                <a16:creationId xmlns:a16="http://schemas.microsoft.com/office/drawing/2014/main" id="{A664BAF0-ED8F-8AFF-0B9D-97CC8313C500}"/>
              </a:ext>
            </a:extLst>
          </p:cNvPr>
          <p:cNvCxnSpPr>
            <a:cxnSpLocks/>
          </p:cNvCxnSpPr>
          <p:nvPr/>
        </p:nvCxnSpPr>
        <p:spPr>
          <a:xfrm flipH="1">
            <a:off x="7924800" y="4992366"/>
            <a:ext cx="162083" cy="172807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CuadroTexto 156">
            <a:extLst>
              <a:ext uri="{FF2B5EF4-FFF2-40B4-BE49-F238E27FC236}">
                <a16:creationId xmlns:a16="http://schemas.microsoft.com/office/drawing/2014/main" id="{74DB0545-0DE9-C5E5-D9D1-CEF0CB84020B}"/>
              </a:ext>
            </a:extLst>
          </p:cNvPr>
          <p:cNvSpPr txBox="1"/>
          <p:nvPr/>
        </p:nvSpPr>
        <p:spPr>
          <a:xfrm rot="19193406">
            <a:off x="7369829" y="5052954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stock</a:t>
            </a:r>
          </a:p>
        </p:txBody>
      </p:sp>
      <p:cxnSp>
        <p:nvCxnSpPr>
          <p:cNvPr id="158" name="Conector recto de flecha 157">
            <a:extLst>
              <a:ext uri="{FF2B5EF4-FFF2-40B4-BE49-F238E27FC236}">
                <a16:creationId xmlns:a16="http://schemas.microsoft.com/office/drawing/2014/main" id="{81876A68-E10E-7CE6-9682-FBCEEE3980FC}"/>
              </a:ext>
            </a:extLst>
          </p:cNvPr>
          <p:cNvCxnSpPr>
            <a:cxnSpLocks/>
          </p:cNvCxnSpPr>
          <p:nvPr/>
        </p:nvCxnSpPr>
        <p:spPr>
          <a:xfrm flipH="1" flipV="1">
            <a:off x="7580558" y="2500538"/>
            <a:ext cx="109124" cy="234552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CuadroTexto 160">
            <a:extLst>
              <a:ext uri="{FF2B5EF4-FFF2-40B4-BE49-F238E27FC236}">
                <a16:creationId xmlns:a16="http://schemas.microsoft.com/office/drawing/2014/main" id="{FAD2B325-EF2F-D565-BB39-1D3A2508CCB8}"/>
              </a:ext>
            </a:extLst>
          </p:cNvPr>
          <p:cNvSpPr txBox="1"/>
          <p:nvPr/>
        </p:nvSpPr>
        <p:spPr>
          <a:xfrm rot="19193406">
            <a:off x="7180850" y="2014418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Preu_actual</a:t>
            </a:r>
            <a:endParaRPr lang="es-ES" sz="1100" dirty="0"/>
          </a:p>
        </p:txBody>
      </p:sp>
      <p:cxnSp>
        <p:nvCxnSpPr>
          <p:cNvPr id="165" name="Conector recto de flecha 164">
            <a:extLst>
              <a:ext uri="{FF2B5EF4-FFF2-40B4-BE49-F238E27FC236}">
                <a16:creationId xmlns:a16="http://schemas.microsoft.com/office/drawing/2014/main" id="{4DE4C341-5D31-E86A-63B4-BC640DA3A1D1}"/>
              </a:ext>
            </a:extLst>
          </p:cNvPr>
          <p:cNvCxnSpPr>
            <a:cxnSpLocks/>
          </p:cNvCxnSpPr>
          <p:nvPr/>
        </p:nvCxnSpPr>
        <p:spPr>
          <a:xfrm flipH="1">
            <a:off x="4480672" y="4729025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CuadroTexto 165">
            <a:extLst>
              <a:ext uri="{FF2B5EF4-FFF2-40B4-BE49-F238E27FC236}">
                <a16:creationId xmlns:a16="http://schemas.microsoft.com/office/drawing/2014/main" id="{48BFF104-AEC8-9C05-D1AF-F5574C74D99B}"/>
              </a:ext>
            </a:extLst>
          </p:cNvPr>
          <p:cNvSpPr txBox="1"/>
          <p:nvPr/>
        </p:nvSpPr>
        <p:spPr>
          <a:xfrm>
            <a:off x="3823531" y="4590166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ID_prov</a:t>
            </a:r>
            <a:endParaRPr lang="es-ES" sz="1100" u="sng" dirty="0"/>
          </a:p>
        </p:txBody>
      </p:sp>
      <p:sp>
        <p:nvSpPr>
          <p:cNvPr id="171" name="CuadroTexto 170">
            <a:extLst>
              <a:ext uri="{FF2B5EF4-FFF2-40B4-BE49-F238E27FC236}">
                <a16:creationId xmlns:a16="http://schemas.microsoft.com/office/drawing/2014/main" id="{92DBF19A-88D9-3399-B7C3-5391EFD4A7DC}"/>
              </a:ext>
            </a:extLst>
          </p:cNvPr>
          <p:cNvSpPr txBox="1"/>
          <p:nvPr/>
        </p:nvSpPr>
        <p:spPr>
          <a:xfrm>
            <a:off x="9773465" y="409411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172" name="CuadroTexto 171">
            <a:extLst>
              <a:ext uri="{FF2B5EF4-FFF2-40B4-BE49-F238E27FC236}">
                <a16:creationId xmlns:a16="http://schemas.microsoft.com/office/drawing/2014/main" id="{00CE8CCC-340F-4CCA-367F-758111938273}"/>
              </a:ext>
            </a:extLst>
          </p:cNvPr>
          <p:cNvSpPr txBox="1"/>
          <p:nvPr/>
        </p:nvSpPr>
        <p:spPr>
          <a:xfrm>
            <a:off x="6744855" y="4809217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173" name="CuadroTexto 172">
            <a:extLst>
              <a:ext uri="{FF2B5EF4-FFF2-40B4-BE49-F238E27FC236}">
                <a16:creationId xmlns:a16="http://schemas.microsoft.com/office/drawing/2014/main" id="{783ACA98-F517-8B58-BA25-31E94A693D30}"/>
              </a:ext>
            </a:extLst>
          </p:cNvPr>
          <p:cNvSpPr txBox="1"/>
          <p:nvPr/>
        </p:nvSpPr>
        <p:spPr>
          <a:xfrm>
            <a:off x="7998853" y="4182057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sp>
        <p:nvSpPr>
          <p:cNvPr id="174" name="CuadroTexto 173">
            <a:extLst>
              <a:ext uri="{FF2B5EF4-FFF2-40B4-BE49-F238E27FC236}">
                <a16:creationId xmlns:a16="http://schemas.microsoft.com/office/drawing/2014/main" id="{5C88E799-DEA4-73DD-B127-74E7B5994B85}"/>
              </a:ext>
            </a:extLst>
          </p:cNvPr>
          <p:cNvSpPr txBox="1"/>
          <p:nvPr/>
        </p:nvSpPr>
        <p:spPr>
          <a:xfrm>
            <a:off x="8517973" y="259112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79BE95EE-BA6E-5F8A-35B6-5B3980B264AA}"/>
              </a:ext>
            </a:extLst>
          </p:cNvPr>
          <p:cNvCxnSpPr>
            <a:cxnSpLocks/>
          </p:cNvCxnSpPr>
          <p:nvPr/>
        </p:nvCxnSpPr>
        <p:spPr>
          <a:xfrm rot="10800000" flipV="1">
            <a:off x="5685724" y="5164551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7249C03E-11C8-2245-C308-2A24D265CAB9}"/>
              </a:ext>
            </a:extLst>
          </p:cNvPr>
          <p:cNvSpPr txBox="1"/>
          <p:nvPr/>
        </p:nvSpPr>
        <p:spPr>
          <a:xfrm rot="19193406">
            <a:off x="5233593" y="5453288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direcció</a:t>
            </a:r>
            <a:endParaRPr lang="es-ES" sz="1100" dirty="0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D5FE6683-05A0-CA52-339B-DE6F97EEE181}"/>
              </a:ext>
            </a:extLst>
          </p:cNvPr>
          <p:cNvCxnSpPr>
            <a:cxnSpLocks/>
          </p:cNvCxnSpPr>
          <p:nvPr/>
        </p:nvCxnSpPr>
        <p:spPr>
          <a:xfrm rot="10800000" flipV="1">
            <a:off x="6401695" y="5178570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57F174C4-1491-C3C5-AAD8-9123CE99D587}"/>
              </a:ext>
            </a:extLst>
          </p:cNvPr>
          <p:cNvSpPr txBox="1"/>
          <p:nvPr/>
        </p:nvSpPr>
        <p:spPr>
          <a:xfrm rot="19193406">
            <a:off x="6035289" y="5362532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web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38FAA74B-8576-2AD3-1617-EFB1B9AA0F73}"/>
              </a:ext>
            </a:extLst>
          </p:cNvPr>
          <p:cNvCxnSpPr>
            <a:cxnSpLocks/>
          </p:cNvCxnSpPr>
          <p:nvPr/>
        </p:nvCxnSpPr>
        <p:spPr>
          <a:xfrm rot="10800000" flipV="1">
            <a:off x="4801495" y="5169045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4484D097-24F3-F9D2-93C6-B57C6D121650}"/>
              </a:ext>
            </a:extLst>
          </p:cNvPr>
          <p:cNvSpPr txBox="1"/>
          <p:nvPr/>
        </p:nvSpPr>
        <p:spPr>
          <a:xfrm rot="19193406">
            <a:off x="4349364" y="5457782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telèfon</a:t>
            </a:r>
            <a:endParaRPr lang="es-ES" sz="1100" dirty="0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18149F88-3667-E66A-8E3E-CD3F1ED6E729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6095997" y="1162765"/>
            <a:ext cx="143628" cy="10688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1DD8005-14B8-9FE0-F5C8-28BA3B7BD04B}"/>
              </a:ext>
            </a:extLst>
          </p:cNvPr>
          <p:cNvSpPr/>
          <p:nvPr/>
        </p:nvSpPr>
        <p:spPr>
          <a:xfrm>
            <a:off x="1782725" y="860090"/>
            <a:ext cx="1063201" cy="4653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Telèfons_clients</a:t>
            </a:r>
            <a:endParaRPr lang="es-ES" dirty="0"/>
          </a:p>
        </p:txBody>
      </p:sp>
      <p:sp>
        <p:nvSpPr>
          <p:cNvPr id="18" name="Rombo 17">
            <a:extLst>
              <a:ext uri="{FF2B5EF4-FFF2-40B4-BE49-F238E27FC236}">
                <a16:creationId xmlns:a16="http://schemas.microsoft.com/office/drawing/2014/main" id="{708F1691-53F9-7B7A-AF59-6C4D0E2E4ECD}"/>
              </a:ext>
            </a:extLst>
          </p:cNvPr>
          <p:cNvSpPr/>
          <p:nvPr/>
        </p:nvSpPr>
        <p:spPr>
          <a:xfrm>
            <a:off x="3303454" y="752292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conté</a:t>
            </a:r>
          </a:p>
        </p:txBody>
      </p:sp>
      <p:cxnSp>
        <p:nvCxnSpPr>
          <p:cNvPr id="19" name="Conector: angular 18">
            <a:extLst>
              <a:ext uri="{FF2B5EF4-FFF2-40B4-BE49-F238E27FC236}">
                <a16:creationId xmlns:a16="http://schemas.microsoft.com/office/drawing/2014/main" id="{C339A5F5-0FA1-071F-D0CC-891E3A2AEA50}"/>
              </a:ext>
            </a:extLst>
          </p:cNvPr>
          <p:cNvCxnSpPr>
            <a:cxnSpLocks/>
            <a:stCxn id="13" idx="3"/>
            <a:endCxn id="18" idx="1"/>
          </p:cNvCxnSpPr>
          <p:nvPr/>
        </p:nvCxnSpPr>
        <p:spPr>
          <a:xfrm flipV="1">
            <a:off x="2845926" y="1054935"/>
            <a:ext cx="457528" cy="37808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: angular 24">
            <a:extLst>
              <a:ext uri="{FF2B5EF4-FFF2-40B4-BE49-F238E27FC236}">
                <a16:creationId xmlns:a16="http://schemas.microsoft.com/office/drawing/2014/main" id="{5ABA0E99-47B7-9019-B3BA-B0659D78DECE}"/>
              </a:ext>
            </a:extLst>
          </p:cNvPr>
          <p:cNvCxnSpPr>
            <a:cxnSpLocks/>
            <a:stCxn id="18" idx="3"/>
            <a:endCxn id="4" idx="1"/>
          </p:cNvCxnSpPr>
          <p:nvPr/>
        </p:nvCxnSpPr>
        <p:spPr>
          <a:xfrm>
            <a:off x="4623297" y="1054935"/>
            <a:ext cx="515167" cy="107830"/>
          </a:xfrm>
          <a:prstGeom prst="bentConnector3">
            <a:avLst>
              <a:gd name="adj1" fmla="val 5554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B6D2B149-3AF1-FAD7-3744-9354065672B2}"/>
              </a:ext>
            </a:extLst>
          </p:cNvPr>
          <p:cNvSpPr txBox="1"/>
          <p:nvPr/>
        </p:nvSpPr>
        <p:spPr>
          <a:xfrm>
            <a:off x="4602004" y="76316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3E303BAC-0A09-9E63-D2DA-8336F3C0A05E}"/>
              </a:ext>
            </a:extLst>
          </p:cNvPr>
          <p:cNvSpPr txBox="1"/>
          <p:nvPr/>
        </p:nvSpPr>
        <p:spPr>
          <a:xfrm>
            <a:off x="2839651" y="77280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27CD9A24-5104-73AB-3E06-7DBEB8849AAB}"/>
              </a:ext>
            </a:extLst>
          </p:cNvPr>
          <p:cNvSpPr txBox="1"/>
          <p:nvPr/>
        </p:nvSpPr>
        <p:spPr>
          <a:xfrm>
            <a:off x="3687049" y="433297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1F549970-11AC-EE22-5B1B-F48AF07B9EBE}"/>
              </a:ext>
            </a:extLst>
          </p:cNvPr>
          <p:cNvCxnSpPr>
            <a:cxnSpLocks/>
          </p:cNvCxnSpPr>
          <p:nvPr/>
        </p:nvCxnSpPr>
        <p:spPr>
          <a:xfrm flipV="1">
            <a:off x="2388509" y="639212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23D4764C-362D-D997-5BC4-2CF858CE3F58}"/>
              </a:ext>
            </a:extLst>
          </p:cNvPr>
          <p:cNvSpPr txBox="1"/>
          <p:nvPr/>
        </p:nvSpPr>
        <p:spPr>
          <a:xfrm>
            <a:off x="2017835" y="327355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ID_client</a:t>
            </a:r>
            <a:endParaRPr lang="es-ES" sz="1100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668458F4-3185-F340-2801-F1994068BB3E}"/>
              </a:ext>
            </a:extLst>
          </p:cNvPr>
          <p:cNvSpPr txBox="1"/>
          <p:nvPr/>
        </p:nvSpPr>
        <p:spPr>
          <a:xfrm>
            <a:off x="6239625" y="3092221"/>
            <a:ext cx="8708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ID_factura</a:t>
            </a:r>
            <a:endParaRPr lang="es-ES" sz="1100" u="sng" dirty="0"/>
          </a:p>
        </p:txBody>
      </p: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CECDF490-B373-C43C-E8E9-9212C325153D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6120802" y="3029885"/>
            <a:ext cx="118823" cy="193141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D2E23C01-365D-32EE-54F2-49653ACFC219}"/>
              </a:ext>
            </a:extLst>
          </p:cNvPr>
          <p:cNvCxnSpPr>
            <a:cxnSpLocks/>
          </p:cNvCxnSpPr>
          <p:nvPr/>
        </p:nvCxnSpPr>
        <p:spPr>
          <a:xfrm flipV="1">
            <a:off x="5339116" y="2489947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04E7250D-7926-9CFE-8C2E-6CC1A0CAE5AE}"/>
              </a:ext>
            </a:extLst>
          </p:cNvPr>
          <p:cNvSpPr txBox="1"/>
          <p:nvPr/>
        </p:nvSpPr>
        <p:spPr>
          <a:xfrm rot="19193406">
            <a:off x="5028113" y="2105488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data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7559DF4E-BC3E-4D31-87ED-0B7C78AB9957}"/>
              </a:ext>
            </a:extLst>
          </p:cNvPr>
          <p:cNvSpPr txBox="1"/>
          <p:nvPr/>
        </p:nvSpPr>
        <p:spPr>
          <a:xfrm rot="19193406">
            <a:off x="3956489" y="2746714"/>
            <a:ext cx="8680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descompte</a:t>
            </a:r>
            <a:endParaRPr lang="es-ES" sz="1100" dirty="0"/>
          </a:p>
        </p:txBody>
      </p: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18B24B13-B257-45E0-E534-97A457BBD90A}"/>
              </a:ext>
            </a:extLst>
          </p:cNvPr>
          <p:cNvCxnSpPr>
            <a:cxnSpLocks/>
          </p:cNvCxnSpPr>
          <p:nvPr/>
        </p:nvCxnSpPr>
        <p:spPr>
          <a:xfrm flipH="1">
            <a:off x="7600169" y="3172299"/>
            <a:ext cx="162083" cy="172807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CuadroTexto 49">
            <a:extLst>
              <a:ext uri="{FF2B5EF4-FFF2-40B4-BE49-F238E27FC236}">
                <a16:creationId xmlns:a16="http://schemas.microsoft.com/office/drawing/2014/main" id="{D89E1E1D-D12B-8416-3FED-8DA8353A885D}"/>
              </a:ext>
            </a:extLst>
          </p:cNvPr>
          <p:cNvSpPr txBox="1"/>
          <p:nvPr/>
        </p:nvSpPr>
        <p:spPr>
          <a:xfrm rot="19193406">
            <a:off x="7169023" y="3118587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IVA</a:t>
            </a:r>
          </a:p>
        </p:txBody>
      </p:sp>
      <p:cxnSp>
        <p:nvCxnSpPr>
          <p:cNvPr id="51" name="Conector recto de flecha 50">
            <a:extLst>
              <a:ext uri="{FF2B5EF4-FFF2-40B4-BE49-F238E27FC236}">
                <a16:creationId xmlns:a16="http://schemas.microsoft.com/office/drawing/2014/main" id="{0DDDC969-18D7-23D0-CBBF-FAFF5381C8F5}"/>
              </a:ext>
            </a:extLst>
          </p:cNvPr>
          <p:cNvCxnSpPr>
            <a:cxnSpLocks/>
          </p:cNvCxnSpPr>
          <p:nvPr/>
        </p:nvCxnSpPr>
        <p:spPr>
          <a:xfrm rot="10800000" flipV="1">
            <a:off x="5163751" y="2930339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CuadroTexto 51">
            <a:extLst>
              <a:ext uri="{FF2B5EF4-FFF2-40B4-BE49-F238E27FC236}">
                <a16:creationId xmlns:a16="http://schemas.microsoft.com/office/drawing/2014/main" id="{DEC0C09B-F964-5D5B-A858-E21FDF448B8E}"/>
              </a:ext>
            </a:extLst>
          </p:cNvPr>
          <p:cNvSpPr txBox="1"/>
          <p:nvPr/>
        </p:nvSpPr>
        <p:spPr>
          <a:xfrm rot="19193406">
            <a:off x="4280013" y="3370154"/>
            <a:ext cx="11619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Preu_final_IVA</a:t>
            </a:r>
            <a:endParaRPr lang="es-ES" sz="1100" dirty="0"/>
          </a:p>
        </p:txBody>
      </p: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61BE4F4C-33C2-F1D6-686B-F7649E6D4B15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4740871" y="2862847"/>
            <a:ext cx="182499" cy="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4030B03C-8C97-ADC9-17AE-D02B3D43CE38}"/>
              </a:ext>
            </a:extLst>
          </p:cNvPr>
          <p:cNvCxnSpPr>
            <a:cxnSpLocks/>
          </p:cNvCxnSpPr>
          <p:nvPr/>
        </p:nvCxnSpPr>
        <p:spPr>
          <a:xfrm flipV="1">
            <a:off x="8201177" y="2610024"/>
            <a:ext cx="115708" cy="179255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CuadroTexto 61">
            <a:extLst>
              <a:ext uri="{FF2B5EF4-FFF2-40B4-BE49-F238E27FC236}">
                <a16:creationId xmlns:a16="http://schemas.microsoft.com/office/drawing/2014/main" id="{74E09357-FAB6-646C-8C79-64E3051353E7}"/>
              </a:ext>
            </a:extLst>
          </p:cNvPr>
          <p:cNvSpPr txBox="1"/>
          <p:nvPr/>
        </p:nvSpPr>
        <p:spPr>
          <a:xfrm>
            <a:off x="8211709" y="2332927"/>
            <a:ext cx="8680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quantitat</a:t>
            </a:r>
            <a:endParaRPr lang="es-ES" sz="1100" dirty="0"/>
          </a:p>
        </p:txBody>
      </p:sp>
      <p:cxnSp>
        <p:nvCxnSpPr>
          <p:cNvPr id="73" name="Conector: angular 72">
            <a:extLst>
              <a:ext uri="{FF2B5EF4-FFF2-40B4-BE49-F238E27FC236}">
                <a16:creationId xmlns:a16="http://schemas.microsoft.com/office/drawing/2014/main" id="{BF714A0B-7B4C-ECF9-0E46-213D4D2BE808}"/>
              </a:ext>
            </a:extLst>
          </p:cNvPr>
          <p:cNvCxnSpPr>
            <a:cxnSpLocks/>
            <a:stCxn id="88" idx="3"/>
            <a:endCxn id="15" idx="2"/>
          </p:cNvCxnSpPr>
          <p:nvPr/>
        </p:nvCxnSpPr>
        <p:spPr>
          <a:xfrm flipV="1">
            <a:off x="8926912" y="3265209"/>
            <a:ext cx="970506" cy="1549142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94">
            <a:extLst>
              <a:ext uri="{FF2B5EF4-FFF2-40B4-BE49-F238E27FC236}">
                <a16:creationId xmlns:a16="http://schemas.microsoft.com/office/drawing/2014/main" id="{39D38588-1AFE-A6D0-96F0-8ABD40111F31}"/>
              </a:ext>
            </a:extLst>
          </p:cNvPr>
          <p:cNvCxnSpPr>
            <a:cxnSpLocks/>
            <a:stCxn id="5" idx="3"/>
            <a:endCxn id="54" idx="1"/>
          </p:cNvCxnSpPr>
          <p:nvPr/>
        </p:nvCxnSpPr>
        <p:spPr>
          <a:xfrm>
            <a:off x="6333945" y="2862847"/>
            <a:ext cx="897869" cy="917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39C4871C-456B-0598-047E-3412E933AA23}"/>
              </a:ext>
            </a:extLst>
          </p:cNvPr>
          <p:cNvSpPr txBox="1"/>
          <p:nvPr/>
        </p:nvSpPr>
        <p:spPr>
          <a:xfrm>
            <a:off x="2091926" y="1572771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Telèfon</a:t>
            </a:r>
            <a:endParaRPr lang="es-ES" sz="1100" dirty="0"/>
          </a:p>
        </p:txBody>
      </p:sp>
      <p:cxnSp>
        <p:nvCxnSpPr>
          <p:cNvPr id="109" name="Conector recto de flecha 108">
            <a:extLst>
              <a:ext uri="{FF2B5EF4-FFF2-40B4-BE49-F238E27FC236}">
                <a16:creationId xmlns:a16="http://schemas.microsoft.com/office/drawing/2014/main" id="{88E65217-DBC4-8455-628D-D3A4BF79C733}"/>
              </a:ext>
            </a:extLst>
          </p:cNvPr>
          <p:cNvCxnSpPr>
            <a:cxnSpLocks/>
          </p:cNvCxnSpPr>
          <p:nvPr/>
        </p:nvCxnSpPr>
        <p:spPr>
          <a:xfrm>
            <a:off x="2404652" y="1316105"/>
            <a:ext cx="0" cy="201114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4519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617A7AC-BADD-A42D-FB81-FD6FAC35B1D2}"/>
              </a:ext>
            </a:extLst>
          </p:cNvPr>
          <p:cNvSpPr txBox="1"/>
          <p:nvPr/>
        </p:nvSpPr>
        <p:spPr>
          <a:xfrm>
            <a:off x="612474" y="923026"/>
            <a:ext cx="531535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CLIENT</a:t>
            </a:r>
            <a:r>
              <a:rPr lang="es-ES" dirty="0"/>
              <a:t> (</a:t>
            </a:r>
            <a:r>
              <a:rPr lang="es-ES" u="sng" dirty="0" err="1"/>
              <a:t>ID_client</a:t>
            </a:r>
            <a:r>
              <a:rPr lang="es-ES" dirty="0"/>
              <a:t>, CIF/NIF, </a:t>
            </a:r>
            <a:r>
              <a:rPr lang="es-ES" dirty="0" err="1"/>
              <a:t>nom</a:t>
            </a:r>
            <a:r>
              <a:rPr lang="es-ES" dirty="0"/>
              <a:t>, </a:t>
            </a:r>
            <a:r>
              <a:rPr lang="es-ES" dirty="0" err="1"/>
              <a:t>direcció</a:t>
            </a:r>
            <a:r>
              <a:rPr lang="es-ES" dirty="0"/>
              <a:t>)</a:t>
            </a:r>
            <a:br>
              <a:rPr lang="es-ES" dirty="0"/>
            </a:br>
            <a:r>
              <a:rPr lang="es-ES" dirty="0">
                <a:solidFill>
                  <a:srgbClr val="FF0000"/>
                </a:solidFill>
              </a:rPr>
              <a:t>TELÈFONS_CLIENTS</a:t>
            </a:r>
            <a:r>
              <a:rPr lang="es-ES" dirty="0"/>
              <a:t> (</a:t>
            </a:r>
            <a:r>
              <a:rPr lang="es-ES" u="sng" dirty="0" err="1"/>
              <a:t>Telèfon</a:t>
            </a:r>
            <a:r>
              <a:rPr lang="es-ES" u="sng" dirty="0"/>
              <a:t>,</a:t>
            </a:r>
            <a:r>
              <a:rPr lang="es-ES" dirty="0"/>
              <a:t> </a:t>
            </a:r>
            <a:r>
              <a:rPr lang="es-ES" dirty="0" err="1"/>
              <a:t>ID_client</a:t>
            </a:r>
            <a:r>
              <a:rPr lang="es-ES" dirty="0"/>
              <a:t>)</a:t>
            </a:r>
            <a:br>
              <a:rPr lang="es-ES" dirty="0"/>
            </a:br>
            <a:r>
              <a:rPr lang="es-ES" dirty="0"/>
              <a:t>donde</a:t>
            </a:r>
          </a:p>
          <a:p>
            <a:r>
              <a:rPr lang="es-ES" dirty="0"/>
              <a:t>{</a:t>
            </a:r>
            <a:r>
              <a:rPr lang="es-ES" dirty="0" err="1"/>
              <a:t>ID_client</a:t>
            </a:r>
            <a:r>
              <a:rPr lang="es-ES" dirty="0"/>
              <a:t>} referencia CLIENT</a:t>
            </a:r>
            <a:br>
              <a:rPr lang="es-ES" dirty="0"/>
            </a:br>
            <a:r>
              <a:rPr lang="es-ES" dirty="0">
                <a:solidFill>
                  <a:srgbClr val="FF0000"/>
                </a:solidFill>
              </a:rPr>
              <a:t>FACTURA </a:t>
            </a:r>
            <a:r>
              <a:rPr lang="es-ES" dirty="0"/>
              <a:t>(</a:t>
            </a:r>
            <a:r>
              <a:rPr lang="es-ES" u="sng" dirty="0" err="1"/>
              <a:t>ID_factura</a:t>
            </a:r>
            <a:r>
              <a:rPr lang="es-ES" dirty="0"/>
              <a:t>, data, </a:t>
            </a:r>
            <a:r>
              <a:rPr lang="es-ES" dirty="0" err="1"/>
              <a:t>ID_client</a:t>
            </a:r>
            <a:r>
              <a:rPr lang="es-ES" dirty="0"/>
              <a:t>, </a:t>
            </a:r>
            <a:r>
              <a:rPr lang="es-ES" dirty="0" err="1"/>
              <a:t>ID_prov</a:t>
            </a:r>
            <a:r>
              <a:rPr lang="es-ES" dirty="0"/>
              <a:t>,  </a:t>
            </a:r>
            <a:r>
              <a:rPr lang="es-ES" dirty="0" err="1"/>
              <a:t>descompte</a:t>
            </a:r>
            <a:r>
              <a:rPr lang="es-ES" dirty="0"/>
              <a:t>, </a:t>
            </a:r>
            <a:r>
              <a:rPr lang="es-ES" dirty="0" err="1"/>
              <a:t>preu_final_IVA</a:t>
            </a:r>
            <a:r>
              <a:rPr lang="es-ES" dirty="0"/>
              <a:t>)</a:t>
            </a:r>
          </a:p>
          <a:p>
            <a:r>
              <a:rPr lang="es-ES" dirty="0"/>
              <a:t>donde</a:t>
            </a:r>
          </a:p>
          <a:p>
            <a:r>
              <a:rPr lang="es-ES" u="sng" dirty="0"/>
              <a:t>{ID_CLIENT} referencia CLIENT</a:t>
            </a:r>
          </a:p>
          <a:p>
            <a:r>
              <a:rPr lang="es-ES" dirty="0"/>
              <a:t>{ID_ </a:t>
            </a:r>
            <a:r>
              <a:rPr lang="es-ES" dirty="0" err="1"/>
              <a:t>prov</a:t>
            </a:r>
            <a:r>
              <a:rPr lang="es-ES" dirty="0"/>
              <a:t>} referencia PROVEÏDOR</a:t>
            </a:r>
            <a:endParaRPr lang="es-ES" u="sng" dirty="0"/>
          </a:p>
          <a:p>
            <a:r>
              <a:rPr lang="es-ES" dirty="0">
                <a:solidFill>
                  <a:srgbClr val="FF0000"/>
                </a:solidFill>
              </a:rPr>
              <a:t>PRODUCTE </a:t>
            </a:r>
            <a:r>
              <a:rPr lang="es-ES" dirty="0"/>
              <a:t>(</a:t>
            </a:r>
            <a:r>
              <a:rPr lang="es-ES" u="sng" dirty="0" err="1"/>
              <a:t>ID_prod</a:t>
            </a:r>
            <a:r>
              <a:rPr lang="es-ES" dirty="0"/>
              <a:t>, </a:t>
            </a:r>
            <a:r>
              <a:rPr lang="es-ES" dirty="0" err="1"/>
              <a:t>ID_cat</a:t>
            </a:r>
            <a:r>
              <a:rPr lang="es-ES" dirty="0"/>
              <a:t>, </a:t>
            </a:r>
            <a:r>
              <a:rPr lang="es-ES" dirty="0" err="1"/>
              <a:t>ID_prov</a:t>
            </a:r>
            <a:r>
              <a:rPr lang="es-ES" dirty="0"/>
              <a:t>, </a:t>
            </a:r>
            <a:r>
              <a:rPr lang="es-ES" dirty="0" err="1"/>
              <a:t>nom</a:t>
            </a:r>
            <a:r>
              <a:rPr lang="es-ES" dirty="0"/>
              <a:t>)</a:t>
            </a:r>
            <a:br>
              <a:rPr lang="es-ES" dirty="0"/>
            </a:br>
            <a:r>
              <a:rPr lang="es-ES" dirty="0"/>
              <a:t>donde</a:t>
            </a:r>
            <a:br>
              <a:rPr lang="es-ES" dirty="0"/>
            </a:br>
            <a:r>
              <a:rPr lang="es-ES" dirty="0"/>
              <a:t>{</a:t>
            </a:r>
            <a:r>
              <a:rPr lang="es-ES" dirty="0" err="1"/>
              <a:t>ID_cat</a:t>
            </a:r>
            <a:r>
              <a:rPr lang="es-ES" dirty="0"/>
              <a:t>} referencia CATEGORIA</a:t>
            </a:r>
            <a:br>
              <a:rPr lang="es-ES" dirty="0"/>
            </a:br>
            <a:r>
              <a:rPr lang="es-ES" dirty="0"/>
              <a:t>{</a:t>
            </a:r>
            <a:r>
              <a:rPr lang="es-ES" dirty="0" err="1"/>
              <a:t>ID_prov</a:t>
            </a:r>
            <a:r>
              <a:rPr lang="es-ES" dirty="0"/>
              <a:t>} referencia PROVEÏDOR</a:t>
            </a:r>
          </a:p>
          <a:p>
            <a:r>
              <a:rPr lang="es-ES" dirty="0">
                <a:solidFill>
                  <a:srgbClr val="FF0000"/>
                </a:solidFill>
              </a:rPr>
              <a:t>FACTURA_PRODUCTE </a:t>
            </a:r>
            <a:r>
              <a:rPr lang="es-ES" dirty="0"/>
              <a:t>(</a:t>
            </a:r>
            <a:r>
              <a:rPr lang="es-ES" u="sng" dirty="0" err="1"/>
              <a:t>ID_factura+ID_prod</a:t>
            </a:r>
            <a:r>
              <a:rPr lang="es-ES" dirty="0"/>
              <a:t>, </a:t>
            </a:r>
            <a:r>
              <a:rPr lang="es-ES" dirty="0" err="1"/>
              <a:t>quantitat</a:t>
            </a:r>
            <a:r>
              <a:rPr lang="es-ES" dirty="0"/>
              <a:t>, IVA, </a:t>
            </a:r>
            <a:r>
              <a:rPr lang="es-ES" dirty="0" err="1"/>
              <a:t>preu_actual</a:t>
            </a:r>
            <a:endParaRPr lang="es-ES" dirty="0"/>
          </a:p>
          <a:p>
            <a:r>
              <a:rPr lang="es-ES" dirty="0"/>
              <a:t>donde</a:t>
            </a:r>
            <a:br>
              <a:rPr lang="es-ES" dirty="0"/>
            </a:br>
            <a:r>
              <a:rPr lang="es-ES" dirty="0"/>
              <a:t>{</a:t>
            </a:r>
            <a:r>
              <a:rPr lang="es-ES" dirty="0" err="1"/>
              <a:t>ID_factura</a:t>
            </a:r>
            <a:r>
              <a:rPr lang="es-ES" dirty="0"/>
              <a:t>} referencia FACTURA</a:t>
            </a:r>
            <a:br>
              <a:rPr lang="es-ES" dirty="0"/>
            </a:br>
            <a:r>
              <a:rPr lang="es-ES" dirty="0"/>
              <a:t>{ID_ </a:t>
            </a:r>
            <a:r>
              <a:rPr lang="es-ES" dirty="0" err="1"/>
              <a:t>prod</a:t>
            </a:r>
            <a:r>
              <a:rPr lang="es-ES" dirty="0"/>
              <a:t>} referencia PRODUCTE</a:t>
            </a:r>
          </a:p>
          <a:p>
            <a:r>
              <a:rPr lang="es-ES" dirty="0">
                <a:solidFill>
                  <a:srgbClr val="FF0000"/>
                </a:solidFill>
              </a:rPr>
              <a:t>CATEGORIA </a:t>
            </a:r>
            <a:r>
              <a:rPr lang="es-ES" dirty="0"/>
              <a:t>(</a:t>
            </a:r>
            <a:r>
              <a:rPr lang="es-ES" u="sng" dirty="0" err="1"/>
              <a:t>ID_cat</a:t>
            </a:r>
            <a:r>
              <a:rPr lang="es-ES" dirty="0"/>
              <a:t>, descripción, </a:t>
            </a:r>
            <a:r>
              <a:rPr lang="es-ES" dirty="0" err="1"/>
              <a:t>nom</a:t>
            </a:r>
            <a:r>
              <a:rPr lang="es-ES" dirty="0"/>
              <a:t>)</a:t>
            </a:r>
          </a:p>
          <a:p>
            <a:endParaRPr lang="es-ES" dirty="0"/>
          </a:p>
          <a:p>
            <a:endParaRPr lang="es-ES" dirty="0">
              <a:solidFill>
                <a:srgbClr val="FF0000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0CF9178-2770-A833-FDFB-0A2D022FB051}"/>
              </a:ext>
            </a:extLst>
          </p:cNvPr>
          <p:cNvSpPr txBox="1"/>
          <p:nvPr/>
        </p:nvSpPr>
        <p:spPr>
          <a:xfrm>
            <a:off x="6672190" y="930286"/>
            <a:ext cx="53153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PRODUCTE_CATEGORIA</a:t>
            </a:r>
            <a:r>
              <a:rPr lang="es-ES" dirty="0"/>
              <a:t> (</a:t>
            </a:r>
            <a:r>
              <a:rPr lang="es-ES" u="sng" dirty="0" err="1"/>
              <a:t>ID_prod+ID_cat</a:t>
            </a:r>
            <a:r>
              <a:rPr lang="es-ES" dirty="0"/>
              <a:t>, </a:t>
            </a:r>
          </a:p>
          <a:p>
            <a:r>
              <a:rPr lang="es-ES" dirty="0"/>
              <a:t>donde</a:t>
            </a:r>
            <a:br>
              <a:rPr lang="es-ES" dirty="0"/>
            </a:br>
            <a:r>
              <a:rPr lang="es-ES" dirty="0"/>
              <a:t>{</a:t>
            </a:r>
            <a:r>
              <a:rPr lang="es-ES" dirty="0" err="1"/>
              <a:t>ID_prod</a:t>
            </a:r>
            <a:r>
              <a:rPr lang="es-ES" dirty="0"/>
              <a:t>} referencia PRODUCTE</a:t>
            </a:r>
            <a:br>
              <a:rPr lang="es-ES" dirty="0"/>
            </a:br>
            <a:r>
              <a:rPr lang="es-ES" dirty="0"/>
              <a:t>{ID_ </a:t>
            </a:r>
            <a:r>
              <a:rPr lang="es-ES" dirty="0" err="1"/>
              <a:t>cat</a:t>
            </a:r>
            <a:r>
              <a:rPr lang="es-ES" dirty="0"/>
              <a:t>} referencia CATEGORIA</a:t>
            </a:r>
            <a:br>
              <a:rPr lang="es-ES" dirty="0"/>
            </a:br>
            <a:r>
              <a:rPr lang="es-ES" dirty="0">
                <a:solidFill>
                  <a:srgbClr val="FF0000"/>
                </a:solidFill>
              </a:rPr>
              <a:t>PROVEÏDOR </a:t>
            </a:r>
            <a:r>
              <a:rPr lang="es-ES" dirty="0"/>
              <a:t>(</a:t>
            </a:r>
            <a:r>
              <a:rPr lang="es-ES" u="sng" dirty="0" err="1"/>
              <a:t>ID_prov</a:t>
            </a:r>
            <a:r>
              <a:rPr lang="es-ES" dirty="0"/>
              <a:t>, CIF/NIF, </a:t>
            </a:r>
            <a:r>
              <a:rPr lang="es-ES" dirty="0" err="1"/>
              <a:t>nom</a:t>
            </a:r>
            <a:r>
              <a:rPr lang="es-ES" dirty="0"/>
              <a:t>, dirección, </a:t>
            </a:r>
            <a:r>
              <a:rPr lang="es-ES" dirty="0" err="1"/>
              <a:t>telèfon</a:t>
            </a:r>
            <a:r>
              <a:rPr lang="es-ES" dirty="0"/>
              <a:t>, web</a:t>
            </a:r>
            <a:r>
              <a:rPr lang="es-ES" u="sng" dirty="0"/>
              <a:t>)</a:t>
            </a:r>
            <a:br>
              <a:rPr lang="es-ES" dirty="0"/>
            </a:br>
            <a:r>
              <a:rPr lang="es-ES" dirty="0">
                <a:solidFill>
                  <a:srgbClr val="FF0000"/>
                </a:solidFill>
              </a:rPr>
              <a:t>PROD_PROV</a:t>
            </a:r>
            <a:r>
              <a:rPr lang="es-ES" dirty="0"/>
              <a:t> (</a:t>
            </a:r>
            <a:r>
              <a:rPr lang="es-ES" u="sng" dirty="0" err="1"/>
              <a:t>ID_prod</a:t>
            </a:r>
            <a:r>
              <a:rPr lang="es-ES" u="sng" dirty="0"/>
              <a:t> + </a:t>
            </a:r>
            <a:r>
              <a:rPr lang="es-ES" u="sng" dirty="0" err="1"/>
              <a:t>ID_prov</a:t>
            </a:r>
            <a:r>
              <a:rPr lang="es-ES" dirty="0"/>
              <a:t>, stock</a:t>
            </a:r>
            <a:r>
              <a:rPr lang="es-ES" u="sng" dirty="0"/>
              <a:t>)</a:t>
            </a:r>
          </a:p>
          <a:p>
            <a:r>
              <a:rPr lang="es-ES" dirty="0"/>
              <a:t>donde</a:t>
            </a:r>
            <a:br>
              <a:rPr lang="es-ES" dirty="0"/>
            </a:br>
            <a:r>
              <a:rPr lang="es-ES" dirty="0"/>
              <a:t>{</a:t>
            </a:r>
            <a:r>
              <a:rPr lang="es-ES" dirty="0" err="1"/>
              <a:t>ID_prod</a:t>
            </a:r>
            <a:r>
              <a:rPr lang="es-ES" dirty="0"/>
              <a:t>} referencia PRODUCTE</a:t>
            </a:r>
            <a:br>
              <a:rPr lang="es-ES" dirty="0"/>
            </a:br>
            <a:r>
              <a:rPr lang="es-ES" dirty="0"/>
              <a:t>{ID_ </a:t>
            </a:r>
            <a:r>
              <a:rPr lang="es-ES" dirty="0" err="1"/>
              <a:t>prov</a:t>
            </a:r>
            <a:r>
              <a:rPr lang="es-ES" dirty="0"/>
              <a:t>} referencia PROVEÏDOR</a:t>
            </a:r>
            <a:endParaRPr lang="es-ES" u="sng" dirty="0"/>
          </a:p>
          <a:p>
            <a:endParaRPr lang="es-E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5674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>
            <a:extLst>
              <a:ext uri="{FF2B5EF4-FFF2-40B4-BE49-F238E27FC236}">
                <a16:creationId xmlns:a16="http://schemas.microsoft.com/office/drawing/2014/main" id="{374D0248-92B1-1464-8601-889C7D7E38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32270"/>
            <a:ext cx="12192000" cy="3793459"/>
          </a:xfrm>
          <a:prstGeom prst="rect">
            <a:avLst/>
          </a:prstGeom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50692FA0-3C7F-AC0C-B919-0DDA66B40057}"/>
              </a:ext>
            </a:extLst>
          </p:cNvPr>
          <p:cNvSpPr txBox="1"/>
          <p:nvPr/>
        </p:nvSpPr>
        <p:spPr>
          <a:xfrm>
            <a:off x="224285" y="155275"/>
            <a:ext cx="2173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SOLUCIO a </a:t>
            </a:r>
            <a:r>
              <a:rPr lang="es-ES" dirty="0" err="1"/>
              <a:t>classe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96667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A05E123E-93D8-0B68-F71E-8D2769829D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1771439"/>
              </p:ext>
            </p:extLst>
          </p:nvPr>
        </p:nvGraphicFramePr>
        <p:xfrm>
          <a:off x="1893019" y="1038908"/>
          <a:ext cx="8891136" cy="367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9520">
                  <a:extLst>
                    <a:ext uri="{9D8B030D-6E8A-4147-A177-3AD203B41FA5}">
                      <a16:colId xmlns:a16="http://schemas.microsoft.com/office/drawing/2014/main" val="4289832320"/>
                    </a:ext>
                  </a:extLst>
                </a:gridCol>
                <a:gridCol w="1223801">
                  <a:extLst>
                    <a:ext uri="{9D8B030D-6E8A-4147-A177-3AD203B41FA5}">
                      <a16:colId xmlns:a16="http://schemas.microsoft.com/office/drawing/2014/main" val="1412820800"/>
                    </a:ext>
                  </a:extLst>
                </a:gridCol>
                <a:gridCol w="1270399">
                  <a:extLst>
                    <a:ext uri="{9D8B030D-6E8A-4147-A177-3AD203B41FA5}">
                      <a16:colId xmlns:a16="http://schemas.microsoft.com/office/drawing/2014/main" val="2969004268"/>
                    </a:ext>
                  </a:extLst>
                </a:gridCol>
                <a:gridCol w="1177100">
                  <a:extLst>
                    <a:ext uri="{9D8B030D-6E8A-4147-A177-3AD203B41FA5}">
                      <a16:colId xmlns:a16="http://schemas.microsoft.com/office/drawing/2014/main" val="1843240588"/>
                    </a:ext>
                  </a:extLst>
                </a:gridCol>
                <a:gridCol w="1375550">
                  <a:extLst>
                    <a:ext uri="{9D8B030D-6E8A-4147-A177-3AD203B41FA5}">
                      <a16:colId xmlns:a16="http://schemas.microsoft.com/office/drawing/2014/main" val="1553718878"/>
                    </a:ext>
                  </a:extLst>
                </a:gridCol>
                <a:gridCol w="1302383">
                  <a:extLst>
                    <a:ext uri="{9D8B030D-6E8A-4147-A177-3AD203B41FA5}">
                      <a16:colId xmlns:a16="http://schemas.microsoft.com/office/drawing/2014/main" val="1464561780"/>
                    </a:ext>
                  </a:extLst>
                </a:gridCol>
                <a:gridCol w="1302383">
                  <a:extLst>
                    <a:ext uri="{9D8B030D-6E8A-4147-A177-3AD203B41FA5}">
                      <a16:colId xmlns:a16="http://schemas.microsoft.com/office/drawing/2014/main" val="26246572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err="1"/>
                        <a:t>Proveïdor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Client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Producte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Categoria</a:t>
                      </a:r>
                      <a:endParaRPr lang="es-ES" dirty="0"/>
                    </a:p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Factura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Telèfons</a:t>
                      </a:r>
                      <a:r>
                        <a:rPr lang="es-ES" dirty="0"/>
                        <a:t> </a:t>
                      </a:r>
                      <a:r>
                        <a:rPr lang="es-ES" dirty="0" err="1"/>
                        <a:t>clients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4043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s-ES" sz="1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Proveïdor</a:t>
                      </a:r>
                      <a:endParaRPr lang="es-E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/>
                        <a:t>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  <a:endParaRPr lang="es-E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43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Client</a:t>
                      </a:r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 err="1"/>
                        <a:t>rep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/>
                        <a:t>té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2487994"/>
                  </a:ext>
                </a:extLst>
              </a:tr>
              <a:tr h="483175">
                <a:tc>
                  <a:txBody>
                    <a:bodyPr/>
                    <a:lstStyle/>
                    <a:p>
                      <a:r>
                        <a:rPr lang="es-ES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Producte</a:t>
                      </a:r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0" dirty="0" err="1"/>
                        <a:t>és</a:t>
                      </a:r>
                      <a:r>
                        <a:rPr lang="es-ES" b="0" dirty="0"/>
                        <a:t> </a:t>
                      </a:r>
                      <a:r>
                        <a:rPr lang="es-ES" b="0" dirty="0" err="1"/>
                        <a:t>tingut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0" dirty="0" err="1"/>
                        <a:t>és</a:t>
                      </a:r>
                      <a:r>
                        <a:rPr lang="es-ES" b="0" dirty="0"/>
                        <a:t> </a:t>
                      </a:r>
                      <a:r>
                        <a:rPr lang="es-ES" b="0" dirty="0" err="1"/>
                        <a:t>contingut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0" dirty="0" err="1"/>
                        <a:t>és</a:t>
                      </a:r>
                      <a:r>
                        <a:rPr lang="es-ES" b="0" dirty="0"/>
                        <a:t> </a:t>
                      </a:r>
                      <a:r>
                        <a:rPr lang="es-ES" b="0" dirty="0" err="1"/>
                        <a:t>contingut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  <a:endParaRPr lang="es-E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866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Categoria</a:t>
                      </a:r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/>
                        <a:t>conté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  <a:endParaRPr lang="es-E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9159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Factura</a:t>
                      </a:r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0" dirty="0" err="1"/>
                        <a:t>és</a:t>
                      </a:r>
                      <a:r>
                        <a:rPr lang="es-ES" b="0" dirty="0"/>
                        <a:t> </a:t>
                      </a:r>
                      <a:r>
                        <a:rPr lang="es-ES" b="0" dirty="0" err="1"/>
                        <a:t>rebuda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/>
                        <a:t>conté</a:t>
                      </a:r>
                      <a:endParaRPr lang="es-E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 b="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  <a:endParaRPr lang="es-ES" b="0" dirty="0"/>
                    </a:p>
                    <a:p>
                      <a:pPr algn="ctr"/>
                      <a:endParaRPr lang="es-ES" b="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126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Telèfons</a:t>
                      </a:r>
                      <a:r>
                        <a:rPr lang="es-E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clients</a:t>
                      </a:r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0" dirty="0" err="1"/>
                        <a:t>és</a:t>
                      </a:r>
                      <a:r>
                        <a:rPr lang="es-ES" b="0" dirty="0"/>
                        <a:t> </a:t>
                      </a:r>
                      <a:r>
                        <a:rPr lang="es-ES" b="0" dirty="0" err="1"/>
                        <a:t>tingut</a:t>
                      </a:r>
                      <a:endParaRPr lang="es-ES" b="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b="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765033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487F0BFA-2041-31E9-BEBB-6254DA4AF160}"/>
              </a:ext>
            </a:extLst>
          </p:cNvPr>
          <p:cNvSpPr txBox="1"/>
          <p:nvPr/>
        </p:nvSpPr>
        <p:spPr>
          <a:xfrm>
            <a:off x="224285" y="155275"/>
            <a:ext cx="1923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CORREGIT</a:t>
            </a:r>
          </a:p>
        </p:txBody>
      </p:sp>
    </p:spTree>
    <p:extLst>
      <p:ext uri="{BB962C8B-B14F-4D97-AF65-F5344CB8AC3E}">
        <p14:creationId xmlns:p14="http://schemas.microsoft.com/office/powerpoint/2010/main" val="639676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F4A3C9A-1D09-623F-214B-4387AD8A1949}"/>
              </a:ext>
            </a:extLst>
          </p:cNvPr>
          <p:cNvSpPr/>
          <p:nvPr/>
        </p:nvSpPr>
        <p:spPr>
          <a:xfrm>
            <a:off x="5138464" y="967952"/>
            <a:ext cx="957533" cy="3896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CLIENT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4A2BCCB-23A2-B251-41A4-284C07CA11E6}"/>
              </a:ext>
            </a:extLst>
          </p:cNvPr>
          <p:cNvSpPr/>
          <p:nvPr/>
        </p:nvSpPr>
        <p:spPr>
          <a:xfrm>
            <a:off x="4923370" y="2677379"/>
            <a:ext cx="1410575" cy="3709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FACTURA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622A086-A3BB-0389-4AA8-21867C439A76}"/>
              </a:ext>
            </a:extLst>
          </p:cNvPr>
          <p:cNvSpPr/>
          <p:nvPr/>
        </p:nvSpPr>
        <p:spPr>
          <a:xfrm>
            <a:off x="4784783" y="4372876"/>
            <a:ext cx="1664898" cy="810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PROVEÏDOR</a:t>
            </a:r>
          </a:p>
        </p:txBody>
      </p:sp>
      <p:sp>
        <p:nvSpPr>
          <p:cNvPr id="12" name="Rombo 11">
            <a:extLst>
              <a:ext uri="{FF2B5EF4-FFF2-40B4-BE49-F238E27FC236}">
                <a16:creationId xmlns:a16="http://schemas.microsoft.com/office/drawing/2014/main" id="{678FAA2D-9332-A163-ADB2-FEB144E9D847}"/>
              </a:ext>
            </a:extLst>
          </p:cNvPr>
          <p:cNvSpPr/>
          <p:nvPr/>
        </p:nvSpPr>
        <p:spPr>
          <a:xfrm>
            <a:off x="4960187" y="1693652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rep</a:t>
            </a:r>
            <a:endParaRPr lang="es-ES" dirty="0"/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2D133C8-7C6A-FDA0-0C94-6EADD1F6B575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>
            <a:off x="5617231" y="1357578"/>
            <a:ext cx="2878" cy="3360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874C865D-AF32-B105-ED2C-12399E47D716}"/>
              </a:ext>
            </a:extLst>
          </p:cNvPr>
          <p:cNvCxnSpPr>
            <a:cxnSpLocks/>
            <a:stCxn id="12" idx="2"/>
            <a:endCxn id="5" idx="0"/>
          </p:cNvCxnSpPr>
          <p:nvPr/>
        </p:nvCxnSpPr>
        <p:spPr>
          <a:xfrm>
            <a:off x="5620109" y="2298938"/>
            <a:ext cx="8549" cy="3784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mbo 53">
            <a:extLst>
              <a:ext uri="{FF2B5EF4-FFF2-40B4-BE49-F238E27FC236}">
                <a16:creationId xmlns:a16="http://schemas.microsoft.com/office/drawing/2014/main" id="{EB46B8A8-D8DA-57C6-8FCF-F1A2B41DC6EE}"/>
              </a:ext>
            </a:extLst>
          </p:cNvPr>
          <p:cNvSpPr/>
          <p:nvPr/>
        </p:nvSpPr>
        <p:spPr>
          <a:xfrm>
            <a:off x="7231814" y="2651905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conté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B04A4645-09B7-0655-98B0-FEDDA6DCA404}"/>
              </a:ext>
            </a:extLst>
          </p:cNvPr>
          <p:cNvSpPr txBox="1"/>
          <p:nvPr/>
        </p:nvSpPr>
        <p:spPr>
          <a:xfrm>
            <a:off x="7607069" y="234017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C446C87C-95CE-2643-7BFF-53C5A370D12F}"/>
              </a:ext>
            </a:extLst>
          </p:cNvPr>
          <p:cNvSpPr txBox="1"/>
          <p:nvPr/>
        </p:nvSpPr>
        <p:spPr>
          <a:xfrm>
            <a:off x="6494261" y="262676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0B95AD6B-1576-893D-A75B-B2655A423177}"/>
              </a:ext>
            </a:extLst>
          </p:cNvPr>
          <p:cNvSpPr txBox="1"/>
          <p:nvPr/>
        </p:nvSpPr>
        <p:spPr>
          <a:xfrm>
            <a:off x="5550377" y="136333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C39BEADC-A81A-CA2D-B4FF-522964DD93E0}"/>
              </a:ext>
            </a:extLst>
          </p:cNvPr>
          <p:cNvSpPr txBox="1"/>
          <p:nvPr/>
        </p:nvSpPr>
        <p:spPr>
          <a:xfrm>
            <a:off x="5556846" y="231722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47F50C7E-E696-BAAD-739B-4D8AA750A11D}"/>
              </a:ext>
            </a:extLst>
          </p:cNvPr>
          <p:cNvSpPr txBox="1"/>
          <p:nvPr/>
        </p:nvSpPr>
        <p:spPr>
          <a:xfrm>
            <a:off x="6240491" y="182398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cxnSp>
        <p:nvCxnSpPr>
          <p:cNvPr id="82" name="Conector recto de flecha 81">
            <a:extLst>
              <a:ext uri="{FF2B5EF4-FFF2-40B4-BE49-F238E27FC236}">
                <a16:creationId xmlns:a16="http://schemas.microsoft.com/office/drawing/2014/main" id="{19294B18-87A5-11C4-41BB-0F23FFE42932}"/>
              </a:ext>
            </a:extLst>
          </p:cNvPr>
          <p:cNvCxnSpPr>
            <a:cxnSpLocks/>
          </p:cNvCxnSpPr>
          <p:nvPr/>
        </p:nvCxnSpPr>
        <p:spPr>
          <a:xfrm flipV="1">
            <a:off x="5352731" y="71869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476DC552-27AA-4D48-FBCE-28CFB600250C}"/>
              </a:ext>
            </a:extLst>
          </p:cNvPr>
          <p:cNvCxnSpPr>
            <a:cxnSpLocks/>
          </p:cNvCxnSpPr>
          <p:nvPr/>
        </p:nvCxnSpPr>
        <p:spPr>
          <a:xfrm flipV="1">
            <a:off x="5138464" y="71869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cto de flecha 90">
            <a:extLst>
              <a:ext uri="{FF2B5EF4-FFF2-40B4-BE49-F238E27FC236}">
                <a16:creationId xmlns:a16="http://schemas.microsoft.com/office/drawing/2014/main" id="{022DC1DA-0795-40C3-BA2C-1B8D1C92D605}"/>
              </a:ext>
            </a:extLst>
          </p:cNvPr>
          <p:cNvCxnSpPr>
            <a:cxnSpLocks/>
          </p:cNvCxnSpPr>
          <p:nvPr/>
        </p:nvCxnSpPr>
        <p:spPr>
          <a:xfrm flipV="1">
            <a:off x="5732972" y="71869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CuadroTexto 98">
            <a:extLst>
              <a:ext uri="{FF2B5EF4-FFF2-40B4-BE49-F238E27FC236}">
                <a16:creationId xmlns:a16="http://schemas.microsoft.com/office/drawing/2014/main" id="{13628AC2-E2EE-47FC-7EBF-558EBB3B396B}"/>
              </a:ext>
            </a:extLst>
          </p:cNvPr>
          <p:cNvSpPr txBox="1"/>
          <p:nvPr/>
        </p:nvSpPr>
        <p:spPr>
          <a:xfrm rot="19193406">
            <a:off x="4902547" y="289553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CIF_NIF</a:t>
            </a:r>
          </a:p>
        </p:txBody>
      </p: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A6F5B8FE-3933-8B07-B149-34B6D84FCC1E}"/>
              </a:ext>
            </a:extLst>
          </p:cNvPr>
          <p:cNvSpPr txBox="1"/>
          <p:nvPr/>
        </p:nvSpPr>
        <p:spPr>
          <a:xfrm rot="19193406">
            <a:off x="5170073" y="305344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</a:t>
            </a:r>
            <a:endParaRPr lang="es-ES" sz="1100" dirty="0"/>
          </a:p>
        </p:txBody>
      </p:sp>
      <p:sp>
        <p:nvSpPr>
          <p:cNvPr id="101" name="CuadroTexto 100">
            <a:extLst>
              <a:ext uri="{FF2B5EF4-FFF2-40B4-BE49-F238E27FC236}">
                <a16:creationId xmlns:a16="http://schemas.microsoft.com/office/drawing/2014/main" id="{D341D413-1B72-832F-69FA-DF7BC56C89C5}"/>
              </a:ext>
            </a:extLst>
          </p:cNvPr>
          <p:cNvSpPr txBox="1"/>
          <p:nvPr/>
        </p:nvSpPr>
        <p:spPr>
          <a:xfrm rot="19193406">
            <a:off x="5505693" y="142305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carrer</a:t>
            </a:r>
            <a:endParaRPr lang="es-ES" sz="1100" dirty="0"/>
          </a:p>
        </p:txBody>
      </p: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EDB05C8D-C9BF-204B-CC26-EF0A6B50F5F9}"/>
              </a:ext>
            </a:extLst>
          </p:cNvPr>
          <p:cNvSpPr txBox="1"/>
          <p:nvPr/>
        </p:nvSpPr>
        <p:spPr>
          <a:xfrm>
            <a:off x="6216408" y="1039431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ID_client</a:t>
            </a:r>
            <a:endParaRPr lang="es-ES" sz="1100" u="sng" dirty="0"/>
          </a:p>
        </p:txBody>
      </p:sp>
      <p:cxnSp>
        <p:nvCxnSpPr>
          <p:cNvPr id="130" name="Conector recto de flecha 129">
            <a:extLst>
              <a:ext uri="{FF2B5EF4-FFF2-40B4-BE49-F238E27FC236}">
                <a16:creationId xmlns:a16="http://schemas.microsoft.com/office/drawing/2014/main" id="{9171CC53-3CED-CF68-792E-D7C7CFB826A1}"/>
              </a:ext>
            </a:extLst>
          </p:cNvPr>
          <p:cNvCxnSpPr>
            <a:cxnSpLocks/>
          </p:cNvCxnSpPr>
          <p:nvPr/>
        </p:nvCxnSpPr>
        <p:spPr>
          <a:xfrm rot="10800000" flipV="1">
            <a:off x="5249170" y="5188095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ector recto de flecha 130">
            <a:extLst>
              <a:ext uri="{FF2B5EF4-FFF2-40B4-BE49-F238E27FC236}">
                <a16:creationId xmlns:a16="http://schemas.microsoft.com/office/drawing/2014/main" id="{2CC4108D-58D7-4D16-2F6B-D357D90A412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149711" y="5194548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CuadroTexto 131">
            <a:extLst>
              <a:ext uri="{FF2B5EF4-FFF2-40B4-BE49-F238E27FC236}">
                <a16:creationId xmlns:a16="http://schemas.microsoft.com/office/drawing/2014/main" id="{F823EE32-110C-A9A6-78CF-D2F6D185137D}"/>
              </a:ext>
            </a:extLst>
          </p:cNvPr>
          <p:cNvSpPr txBox="1"/>
          <p:nvPr/>
        </p:nvSpPr>
        <p:spPr>
          <a:xfrm rot="19193406">
            <a:off x="4797039" y="5476832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CIF_NIF</a:t>
            </a:r>
          </a:p>
        </p:txBody>
      </p:sp>
      <p:sp>
        <p:nvSpPr>
          <p:cNvPr id="133" name="CuadroTexto 132">
            <a:extLst>
              <a:ext uri="{FF2B5EF4-FFF2-40B4-BE49-F238E27FC236}">
                <a16:creationId xmlns:a16="http://schemas.microsoft.com/office/drawing/2014/main" id="{3196C921-E2AC-D387-915B-2B6EEB51BF2F}"/>
              </a:ext>
            </a:extLst>
          </p:cNvPr>
          <p:cNvSpPr txBox="1"/>
          <p:nvPr/>
        </p:nvSpPr>
        <p:spPr>
          <a:xfrm rot="19193406">
            <a:off x="5687147" y="5316374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</a:t>
            </a:r>
            <a:endParaRPr lang="es-ES" sz="110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2CFD351-A2B8-EE30-2400-6566FEBD7755}"/>
              </a:ext>
            </a:extLst>
          </p:cNvPr>
          <p:cNvSpPr/>
          <p:nvPr/>
        </p:nvSpPr>
        <p:spPr>
          <a:xfrm>
            <a:off x="9141171" y="2708804"/>
            <a:ext cx="1512494" cy="556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PRODUCTE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865CFB14-6049-8DBC-4DF9-BD019442EC62}"/>
              </a:ext>
            </a:extLst>
          </p:cNvPr>
          <p:cNvCxnSpPr>
            <a:cxnSpLocks/>
            <a:stCxn id="54" idx="3"/>
            <a:endCxn id="15" idx="1"/>
          </p:cNvCxnSpPr>
          <p:nvPr/>
        </p:nvCxnSpPr>
        <p:spPr>
          <a:xfrm>
            <a:off x="8551657" y="2954548"/>
            <a:ext cx="589514" cy="324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ángulo 83">
            <a:extLst>
              <a:ext uri="{FF2B5EF4-FFF2-40B4-BE49-F238E27FC236}">
                <a16:creationId xmlns:a16="http://schemas.microsoft.com/office/drawing/2014/main" id="{E34B8469-00C4-0B00-AADE-E303AB86029F}"/>
              </a:ext>
            </a:extLst>
          </p:cNvPr>
          <p:cNvSpPr/>
          <p:nvPr/>
        </p:nvSpPr>
        <p:spPr>
          <a:xfrm>
            <a:off x="9141171" y="523534"/>
            <a:ext cx="1512494" cy="556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CATEGORIA</a:t>
            </a:r>
          </a:p>
        </p:txBody>
      </p:sp>
      <p:sp>
        <p:nvSpPr>
          <p:cNvPr id="85" name="Rombo 84">
            <a:extLst>
              <a:ext uri="{FF2B5EF4-FFF2-40B4-BE49-F238E27FC236}">
                <a16:creationId xmlns:a16="http://schemas.microsoft.com/office/drawing/2014/main" id="{498C5903-F81C-4638-BC9E-BC35F562299C}"/>
              </a:ext>
            </a:extLst>
          </p:cNvPr>
          <p:cNvSpPr/>
          <p:nvPr/>
        </p:nvSpPr>
        <p:spPr>
          <a:xfrm>
            <a:off x="9246899" y="1429151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conté</a:t>
            </a:r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D96D35B8-0898-AD54-0A3D-FF208A2969EF}"/>
              </a:ext>
            </a:extLst>
          </p:cNvPr>
          <p:cNvSpPr txBox="1"/>
          <p:nvPr/>
        </p:nvSpPr>
        <p:spPr>
          <a:xfrm>
            <a:off x="10563152" y="157277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88" name="Rombo 87">
            <a:extLst>
              <a:ext uri="{FF2B5EF4-FFF2-40B4-BE49-F238E27FC236}">
                <a16:creationId xmlns:a16="http://schemas.microsoft.com/office/drawing/2014/main" id="{EF56E7C3-BFB9-0299-C856-6F58EADCF64F}"/>
              </a:ext>
            </a:extLst>
          </p:cNvPr>
          <p:cNvSpPr/>
          <p:nvPr/>
        </p:nvSpPr>
        <p:spPr>
          <a:xfrm>
            <a:off x="7607069" y="4511708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té</a:t>
            </a:r>
          </a:p>
        </p:txBody>
      </p:sp>
      <p:cxnSp>
        <p:nvCxnSpPr>
          <p:cNvPr id="89" name="Conector: angular 88">
            <a:extLst>
              <a:ext uri="{FF2B5EF4-FFF2-40B4-BE49-F238E27FC236}">
                <a16:creationId xmlns:a16="http://schemas.microsoft.com/office/drawing/2014/main" id="{4B02DE7F-C2C8-2BA9-84F3-889642D3884D}"/>
              </a:ext>
            </a:extLst>
          </p:cNvPr>
          <p:cNvCxnSpPr>
            <a:cxnSpLocks/>
            <a:stCxn id="9" idx="3"/>
            <a:endCxn id="88" idx="1"/>
          </p:cNvCxnSpPr>
          <p:nvPr/>
        </p:nvCxnSpPr>
        <p:spPr>
          <a:xfrm>
            <a:off x="6449681" y="4778318"/>
            <a:ext cx="1157388" cy="36033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ector recto 135">
            <a:extLst>
              <a:ext uri="{FF2B5EF4-FFF2-40B4-BE49-F238E27FC236}">
                <a16:creationId xmlns:a16="http://schemas.microsoft.com/office/drawing/2014/main" id="{D234757A-CD5A-1273-CDA8-E66210A248C4}"/>
              </a:ext>
            </a:extLst>
          </p:cNvPr>
          <p:cNvCxnSpPr>
            <a:stCxn id="84" idx="2"/>
            <a:endCxn id="85" idx="0"/>
          </p:cNvCxnSpPr>
          <p:nvPr/>
        </p:nvCxnSpPr>
        <p:spPr>
          <a:xfrm>
            <a:off x="9897418" y="1079939"/>
            <a:ext cx="9403" cy="3492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ector recto 137">
            <a:extLst>
              <a:ext uri="{FF2B5EF4-FFF2-40B4-BE49-F238E27FC236}">
                <a16:creationId xmlns:a16="http://schemas.microsoft.com/office/drawing/2014/main" id="{E5DD797A-2B61-5C61-9C09-C69CE045101F}"/>
              </a:ext>
            </a:extLst>
          </p:cNvPr>
          <p:cNvCxnSpPr>
            <a:stCxn id="85" idx="2"/>
            <a:endCxn id="15" idx="0"/>
          </p:cNvCxnSpPr>
          <p:nvPr/>
        </p:nvCxnSpPr>
        <p:spPr>
          <a:xfrm flipH="1">
            <a:off x="9897418" y="2034437"/>
            <a:ext cx="9403" cy="6743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CuadroTexto 138">
            <a:extLst>
              <a:ext uri="{FF2B5EF4-FFF2-40B4-BE49-F238E27FC236}">
                <a16:creationId xmlns:a16="http://schemas.microsoft.com/office/drawing/2014/main" id="{3FF7B651-C804-EDB3-600C-F0B5B61AE311}"/>
              </a:ext>
            </a:extLst>
          </p:cNvPr>
          <p:cNvSpPr txBox="1"/>
          <p:nvPr/>
        </p:nvSpPr>
        <p:spPr>
          <a:xfrm>
            <a:off x="9879500" y="2178057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140" name="CuadroTexto 139">
            <a:extLst>
              <a:ext uri="{FF2B5EF4-FFF2-40B4-BE49-F238E27FC236}">
                <a16:creationId xmlns:a16="http://schemas.microsoft.com/office/drawing/2014/main" id="{A1358418-8775-C20D-C7D1-5A664B8DCDBD}"/>
              </a:ext>
            </a:extLst>
          </p:cNvPr>
          <p:cNvSpPr txBox="1"/>
          <p:nvPr/>
        </p:nvSpPr>
        <p:spPr>
          <a:xfrm>
            <a:off x="9975825" y="109052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cxnSp>
        <p:nvCxnSpPr>
          <p:cNvPr id="141" name="Conector recto de flecha 140">
            <a:extLst>
              <a:ext uri="{FF2B5EF4-FFF2-40B4-BE49-F238E27FC236}">
                <a16:creationId xmlns:a16="http://schemas.microsoft.com/office/drawing/2014/main" id="{9B4DEAA3-5AA9-696B-FF21-0F61E46E06D6}"/>
              </a:ext>
            </a:extLst>
          </p:cNvPr>
          <p:cNvCxnSpPr>
            <a:cxnSpLocks/>
          </p:cNvCxnSpPr>
          <p:nvPr/>
        </p:nvCxnSpPr>
        <p:spPr>
          <a:xfrm flipH="1">
            <a:off x="8941389" y="730726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CuadroTexto 141">
            <a:extLst>
              <a:ext uri="{FF2B5EF4-FFF2-40B4-BE49-F238E27FC236}">
                <a16:creationId xmlns:a16="http://schemas.microsoft.com/office/drawing/2014/main" id="{4AC1C1A5-3781-B61A-8F51-179B51AD34C2}"/>
              </a:ext>
            </a:extLst>
          </p:cNvPr>
          <p:cNvSpPr txBox="1"/>
          <p:nvPr/>
        </p:nvSpPr>
        <p:spPr>
          <a:xfrm>
            <a:off x="8356714" y="587891"/>
            <a:ext cx="5767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ID_cat</a:t>
            </a:r>
            <a:endParaRPr lang="es-ES" sz="1100" u="sng" dirty="0"/>
          </a:p>
        </p:txBody>
      </p:sp>
      <p:cxnSp>
        <p:nvCxnSpPr>
          <p:cNvPr id="143" name="Conector recto de flecha 142">
            <a:extLst>
              <a:ext uri="{FF2B5EF4-FFF2-40B4-BE49-F238E27FC236}">
                <a16:creationId xmlns:a16="http://schemas.microsoft.com/office/drawing/2014/main" id="{0CD6EFFA-9678-BC83-A681-CBE13A5B0FC7}"/>
              </a:ext>
            </a:extLst>
          </p:cNvPr>
          <p:cNvCxnSpPr>
            <a:cxnSpLocks/>
          </p:cNvCxnSpPr>
          <p:nvPr/>
        </p:nvCxnSpPr>
        <p:spPr>
          <a:xfrm flipV="1">
            <a:off x="9906821" y="39810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ector recto de flecha 143">
            <a:extLst>
              <a:ext uri="{FF2B5EF4-FFF2-40B4-BE49-F238E27FC236}">
                <a16:creationId xmlns:a16="http://schemas.microsoft.com/office/drawing/2014/main" id="{BE539A50-CE93-0805-5A89-941D473B145D}"/>
              </a:ext>
            </a:extLst>
          </p:cNvPr>
          <p:cNvCxnSpPr>
            <a:cxnSpLocks/>
          </p:cNvCxnSpPr>
          <p:nvPr/>
        </p:nvCxnSpPr>
        <p:spPr>
          <a:xfrm flipV="1">
            <a:off x="9485525" y="39810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CuadroTexto 144">
            <a:extLst>
              <a:ext uri="{FF2B5EF4-FFF2-40B4-BE49-F238E27FC236}">
                <a16:creationId xmlns:a16="http://schemas.microsoft.com/office/drawing/2014/main" id="{CE29371B-2CC3-A33D-248E-6F7710C6AD6A}"/>
              </a:ext>
            </a:extLst>
          </p:cNvPr>
          <p:cNvSpPr txBox="1"/>
          <p:nvPr/>
        </p:nvSpPr>
        <p:spPr>
          <a:xfrm rot="19193406">
            <a:off x="9240918" y="-65669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</a:t>
            </a:r>
            <a:endParaRPr lang="es-ES" sz="1100" dirty="0"/>
          </a:p>
        </p:txBody>
      </p:sp>
      <p:sp>
        <p:nvSpPr>
          <p:cNvPr id="146" name="CuadroTexto 145">
            <a:extLst>
              <a:ext uri="{FF2B5EF4-FFF2-40B4-BE49-F238E27FC236}">
                <a16:creationId xmlns:a16="http://schemas.microsoft.com/office/drawing/2014/main" id="{E62D0053-B93A-3226-A1D3-5BE49015CCDA}"/>
              </a:ext>
            </a:extLst>
          </p:cNvPr>
          <p:cNvSpPr txBox="1"/>
          <p:nvPr/>
        </p:nvSpPr>
        <p:spPr>
          <a:xfrm>
            <a:off x="9723687" y="65745"/>
            <a:ext cx="10951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descripció</a:t>
            </a:r>
            <a:endParaRPr lang="es-ES" sz="1100" dirty="0"/>
          </a:p>
        </p:txBody>
      </p:sp>
      <p:cxnSp>
        <p:nvCxnSpPr>
          <p:cNvPr id="147" name="Conector recto de flecha 146">
            <a:extLst>
              <a:ext uri="{FF2B5EF4-FFF2-40B4-BE49-F238E27FC236}">
                <a16:creationId xmlns:a16="http://schemas.microsoft.com/office/drawing/2014/main" id="{37D04916-CEE3-ACF7-44F1-98B8041BF309}"/>
              </a:ext>
            </a:extLst>
          </p:cNvPr>
          <p:cNvCxnSpPr>
            <a:cxnSpLocks/>
          </p:cNvCxnSpPr>
          <p:nvPr/>
        </p:nvCxnSpPr>
        <p:spPr>
          <a:xfrm rot="10800000" flipH="1">
            <a:off x="10396375" y="3013213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CuadroTexto 147">
            <a:extLst>
              <a:ext uri="{FF2B5EF4-FFF2-40B4-BE49-F238E27FC236}">
                <a16:creationId xmlns:a16="http://schemas.microsoft.com/office/drawing/2014/main" id="{A7F8449E-D681-FCE9-14E4-8E7CA4176E33}"/>
              </a:ext>
            </a:extLst>
          </p:cNvPr>
          <p:cNvSpPr txBox="1"/>
          <p:nvPr/>
        </p:nvSpPr>
        <p:spPr>
          <a:xfrm>
            <a:off x="10759393" y="2897506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ID_prod</a:t>
            </a:r>
            <a:endParaRPr lang="es-ES" sz="1100" u="sng" dirty="0"/>
          </a:p>
        </p:txBody>
      </p:sp>
      <p:cxnSp>
        <p:nvCxnSpPr>
          <p:cNvPr id="150" name="Conector recto de flecha 149">
            <a:extLst>
              <a:ext uri="{FF2B5EF4-FFF2-40B4-BE49-F238E27FC236}">
                <a16:creationId xmlns:a16="http://schemas.microsoft.com/office/drawing/2014/main" id="{01488FAA-3CFD-BAAD-A223-7398CD4A5D9D}"/>
              </a:ext>
            </a:extLst>
          </p:cNvPr>
          <p:cNvCxnSpPr>
            <a:cxnSpLocks/>
          </p:cNvCxnSpPr>
          <p:nvPr/>
        </p:nvCxnSpPr>
        <p:spPr>
          <a:xfrm rot="10800000" flipV="1">
            <a:off x="9461117" y="3194844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CuadroTexto 151">
            <a:extLst>
              <a:ext uri="{FF2B5EF4-FFF2-40B4-BE49-F238E27FC236}">
                <a16:creationId xmlns:a16="http://schemas.microsoft.com/office/drawing/2014/main" id="{F2D1423D-9A0E-87CC-4BA1-A5BB1DE87270}"/>
              </a:ext>
            </a:extLst>
          </p:cNvPr>
          <p:cNvSpPr txBox="1"/>
          <p:nvPr/>
        </p:nvSpPr>
        <p:spPr>
          <a:xfrm rot="19193406">
            <a:off x="9108349" y="3462584"/>
            <a:ext cx="4737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</a:t>
            </a:r>
            <a:endParaRPr lang="es-ES" sz="1100" dirty="0"/>
          </a:p>
        </p:txBody>
      </p:sp>
      <p:cxnSp>
        <p:nvCxnSpPr>
          <p:cNvPr id="158" name="Conector recto de flecha 157">
            <a:extLst>
              <a:ext uri="{FF2B5EF4-FFF2-40B4-BE49-F238E27FC236}">
                <a16:creationId xmlns:a16="http://schemas.microsoft.com/office/drawing/2014/main" id="{81876A68-E10E-7CE6-9682-FBCEEE3980FC}"/>
              </a:ext>
            </a:extLst>
          </p:cNvPr>
          <p:cNvCxnSpPr>
            <a:cxnSpLocks/>
          </p:cNvCxnSpPr>
          <p:nvPr/>
        </p:nvCxnSpPr>
        <p:spPr>
          <a:xfrm flipH="1" flipV="1">
            <a:off x="7580558" y="2500538"/>
            <a:ext cx="109124" cy="234552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CuadroTexto 160">
            <a:extLst>
              <a:ext uri="{FF2B5EF4-FFF2-40B4-BE49-F238E27FC236}">
                <a16:creationId xmlns:a16="http://schemas.microsoft.com/office/drawing/2014/main" id="{FAD2B325-EF2F-D565-BB39-1D3A2508CCB8}"/>
              </a:ext>
            </a:extLst>
          </p:cNvPr>
          <p:cNvSpPr txBox="1"/>
          <p:nvPr/>
        </p:nvSpPr>
        <p:spPr>
          <a:xfrm rot="19193406">
            <a:off x="7180850" y="2014418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Preu_en_venta</a:t>
            </a:r>
            <a:endParaRPr lang="es-ES" sz="1100" dirty="0"/>
          </a:p>
        </p:txBody>
      </p:sp>
      <p:cxnSp>
        <p:nvCxnSpPr>
          <p:cNvPr id="165" name="Conector recto de flecha 164">
            <a:extLst>
              <a:ext uri="{FF2B5EF4-FFF2-40B4-BE49-F238E27FC236}">
                <a16:creationId xmlns:a16="http://schemas.microsoft.com/office/drawing/2014/main" id="{4DE4C341-5D31-E86A-63B4-BC640DA3A1D1}"/>
              </a:ext>
            </a:extLst>
          </p:cNvPr>
          <p:cNvCxnSpPr>
            <a:cxnSpLocks/>
          </p:cNvCxnSpPr>
          <p:nvPr/>
        </p:nvCxnSpPr>
        <p:spPr>
          <a:xfrm flipH="1">
            <a:off x="4480672" y="4729025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CuadroTexto 165">
            <a:extLst>
              <a:ext uri="{FF2B5EF4-FFF2-40B4-BE49-F238E27FC236}">
                <a16:creationId xmlns:a16="http://schemas.microsoft.com/office/drawing/2014/main" id="{48BFF104-AEC8-9C05-D1AF-F5574C74D99B}"/>
              </a:ext>
            </a:extLst>
          </p:cNvPr>
          <p:cNvSpPr txBox="1"/>
          <p:nvPr/>
        </p:nvSpPr>
        <p:spPr>
          <a:xfrm>
            <a:off x="3823531" y="4590166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ID_prov</a:t>
            </a:r>
            <a:endParaRPr lang="es-ES" sz="1100" u="sng" dirty="0"/>
          </a:p>
        </p:txBody>
      </p:sp>
      <p:sp>
        <p:nvSpPr>
          <p:cNvPr id="171" name="CuadroTexto 170">
            <a:extLst>
              <a:ext uri="{FF2B5EF4-FFF2-40B4-BE49-F238E27FC236}">
                <a16:creationId xmlns:a16="http://schemas.microsoft.com/office/drawing/2014/main" id="{92DBF19A-88D9-3399-B7C3-5391EFD4A7DC}"/>
              </a:ext>
            </a:extLst>
          </p:cNvPr>
          <p:cNvSpPr txBox="1"/>
          <p:nvPr/>
        </p:nvSpPr>
        <p:spPr>
          <a:xfrm>
            <a:off x="9879499" y="4097124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172" name="CuadroTexto 171">
            <a:extLst>
              <a:ext uri="{FF2B5EF4-FFF2-40B4-BE49-F238E27FC236}">
                <a16:creationId xmlns:a16="http://schemas.microsoft.com/office/drawing/2014/main" id="{00CE8CCC-340F-4CCA-367F-758111938273}"/>
              </a:ext>
            </a:extLst>
          </p:cNvPr>
          <p:cNvSpPr txBox="1"/>
          <p:nvPr/>
        </p:nvSpPr>
        <p:spPr>
          <a:xfrm>
            <a:off x="6744855" y="4809217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173" name="CuadroTexto 172">
            <a:extLst>
              <a:ext uri="{FF2B5EF4-FFF2-40B4-BE49-F238E27FC236}">
                <a16:creationId xmlns:a16="http://schemas.microsoft.com/office/drawing/2014/main" id="{783ACA98-F517-8B58-BA25-31E94A693D30}"/>
              </a:ext>
            </a:extLst>
          </p:cNvPr>
          <p:cNvSpPr txBox="1"/>
          <p:nvPr/>
        </p:nvSpPr>
        <p:spPr>
          <a:xfrm>
            <a:off x="7998853" y="4182057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174" name="CuadroTexto 173">
            <a:extLst>
              <a:ext uri="{FF2B5EF4-FFF2-40B4-BE49-F238E27FC236}">
                <a16:creationId xmlns:a16="http://schemas.microsoft.com/office/drawing/2014/main" id="{5C88E799-DEA4-73DD-B127-74E7B5994B85}"/>
              </a:ext>
            </a:extLst>
          </p:cNvPr>
          <p:cNvSpPr txBox="1"/>
          <p:nvPr/>
        </p:nvSpPr>
        <p:spPr>
          <a:xfrm>
            <a:off x="8517973" y="259112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D5FE6683-05A0-CA52-339B-DE6F97EEE181}"/>
              </a:ext>
            </a:extLst>
          </p:cNvPr>
          <p:cNvCxnSpPr>
            <a:cxnSpLocks/>
          </p:cNvCxnSpPr>
          <p:nvPr/>
        </p:nvCxnSpPr>
        <p:spPr>
          <a:xfrm rot="10800000" flipV="1">
            <a:off x="6401695" y="5178570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57F174C4-1491-C3C5-AAD8-9123CE99D587}"/>
              </a:ext>
            </a:extLst>
          </p:cNvPr>
          <p:cNvSpPr txBox="1"/>
          <p:nvPr/>
        </p:nvSpPr>
        <p:spPr>
          <a:xfrm rot="19193406">
            <a:off x="6035289" y="5362532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web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38FAA74B-8576-2AD3-1617-EFB1B9AA0F73}"/>
              </a:ext>
            </a:extLst>
          </p:cNvPr>
          <p:cNvCxnSpPr>
            <a:cxnSpLocks/>
          </p:cNvCxnSpPr>
          <p:nvPr/>
        </p:nvCxnSpPr>
        <p:spPr>
          <a:xfrm rot="10800000" flipV="1">
            <a:off x="4801495" y="5169045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4484D097-24F3-F9D2-93C6-B57C6D121650}"/>
              </a:ext>
            </a:extLst>
          </p:cNvPr>
          <p:cNvSpPr txBox="1"/>
          <p:nvPr/>
        </p:nvSpPr>
        <p:spPr>
          <a:xfrm rot="19193406">
            <a:off x="4349364" y="5457782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telèfon</a:t>
            </a:r>
            <a:endParaRPr lang="es-ES" sz="1100" dirty="0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18149F88-3667-E66A-8E3E-CD3F1ED6E729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6095997" y="1162765"/>
            <a:ext cx="143628" cy="10688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1DD8005-14B8-9FE0-F5C8-28BA3B7BD04B}"/>
              </a:ext>
            </a:extLst>
          </p:cNvPr>
          <p:cNvSpPr/>
          <p:nvPr/>
        </p:nvSpPr>
        <p:spPr>
          <a:xfrm>
            <a:off x="1782725" y="860090"/>
            <a:ext cx="1063201" cy="4653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Telèfons_clients</a:t>
            </a:r>
            <a:endParaRPr lang="es-ES" dirty="0"/>
          </a:p>
        </p:txBody>
      </p:sp>
      <p:sp>
        <p:nvSpPr>
          <p:cNvPr id="18" name="Rombo 17">
            <a:extLst>
              <a:ext uri="{FF2B5EF4-FFF2-40B4-BE49-F238E27FC236}">
                <a16:creationId xmlns:a16="http://schemas.microsoft.com/office/drawing/2014/main" id="{708F1691-53F9-7B7A-AF59-6C4D0E2E4ECD}"/>
              </a:ext>
            </a:extLst>
          </p:cNvPr>
          <p:cNvSpPr/>
          <p:nvPr/>
        </p:nvSpPr>
        <p:spPr>
          <a:xfrm>
            <a:off x="3303454" y="752292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conté</a:t>
            </a:r>
          </a:p>
        </p:txBody>
      </p:sp>
      <p:cxnSp>
        <p:nvCxnSpPr>
          <p:cNvPr id="19" name="Conector: angular 18">
            <a:extLst>
              <a:ext uri="{FF2B5EF4-FFF2-40B4-BE49-F238E27FC236}">
                <a16:creationId xmlns:a16="http://schemas.microsoft.com/office/drawing/2014/main" id="{C339A5F5-0FA1-071F-D0CC-891E3A2AEA50}"/>
              </a:ext>
            </a:extLst>
          </p:cNvPr>
          <p:cNvCxnSpPr>
            <a:cxnSpLocks/>
            <a:stCxn id="13" idx="3"/>
            <a:endCxn id="18" idx="1"/>
          </p:cNvCxnSpPr>
          <p:nvPr/>
        </p:nvCxnSpPr>
        <p:spPr>
          <a:xfrm flipV="1">
            <a:off x="2845926" y="1054935"/>
            <a:ext cx="457528" cy="37808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: angular 24">
            <a:extLst>
              <a:ext uri="{FF2B5EF4-FFF2-40B4-BE49-F238E27FC236}">
                <a16:creationId xmlns:a16="http://schemas.microsoft.com/office/drawing/2014/main" id="{5ABA0E99-47B7-9019-B3BA-B0659D78DECE}"/>
              </a:ext>
            </a:extLst>
          </p:cNvPr>
          <p:cNvCxnSpPr>
            <a:cxnSpLocks/>
            <a:stCxn id="18" idx="3"/>
            <a:endCxn id="4" idx="1"/>
          </p:cNvCxnSpPr>
          <p:nvPr/>
        </p:nvCxnSpPr>
        <p:spPr>
          <a:xfrm>
            <a:off x="4623297" y="1054935"/>
            <a:ext cx="515167" cy="107830"/>
          </a:xfrm>
          <a:prstGeom prst="bentConnector3">
            <a:avLst>
              <a:gd name="adj1" fmla="val 5554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B6D2B149-3AF1-FAD7-3744-9354065672B2}"/>
              </a:ext>
            </a:extLst>
          </p:cNvPr>
          <p:cNvSpPr txBox="1"/>
          <p:nvPr/>
        </p:nvSpPr>
        <p:spPr>
          <a:xfrm>
            <a:off x="4602004" y="76316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3E303BAC-0A09-9E63-D2DA-8336F3C0A05E}"/>
              </a:ext>
            </a:extLst>
          </p:cNvPr>
          <p:cNvSpPr txBox="1"/>
          <p:nvPr/>
        </p:nvSpPr>
        <p:spPr>
          <a:xfrm>
            <a:off x="2839651" y="77280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27CD9A24-5104-73AB-3E06-7DBEB8849AAB}"/>
              </a:ext>
            </a:extLst>
          </p:cNvPr>
          <p:cNvSpPr txBox="1"/>
          <p:nvPr/>
        </p:nvSpPr>
        <p:spPr>
          <a:xfrm>
            <a:off x="3687049" y="433297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1F549970-11AC-EE22-5B1B-F48AF07B9EBE}"/>
              </a:ext>
            </a:extLst>
          </p:cNvPr>
          <p:cNvCxnSpPr>
            <a:cxnSpLocks/>
          </p:cNvCxnSpPr>
          <p:nvPr/>
        </p:nvCxnSpPr>
        <p:spPr>
          <a:xfrm flipV="1">
            <a:off x="2388509" y="639212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23D4764C-362D-D997-5BC4-2CF858CE3F58}"/>
              </a:ext>
            </a:extLst>
          </p:cNvPr>
          <p:cNvSpPr txBox="1"/>
          <p:nvPr/>
        </p:nvSpPr>
        <p:spPr>
          <a:xfrm>
            <a:off x="2017835" y="327355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ID_client</a:t>
            </a:r>
            <a:endParaRPr lang="es-ES" sz="1100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668458F4-3185-F340-2801-F1994068BB3E}"/>
              </a:ext>
            </a:extLst>
          </p:cNvPr>
          <p:cNvSpPr txBox="1"/>
          <p:nvPr/>
        </p:nvSpPr>
        <p:spPr>
          <a:xfrm>
            <a:off x="6239625" y="3092221"/>
            <a:ext cx="8708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ID_factura</a:t>
            </a:r>
            <a:endParaRPr lang="es-ES" sz="1100" u="sng" dirty="0"/>
          </a:p>
        </p:txBody>
      </p: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CECDF490-B373-C43C-E8E9-9212C325153D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6120802" y="3029885"/>
            <a:ext cx="118823" cy="193141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D2E23C01-365D-32EE-54F2-49653ACFC219}"/>
              </a:ext>
            </a:extLst>
          </p:cNvPr>
          <p:cNvCxnSpPr>
            <a:cxnSpLocks/>
          </p:cNvCxnSpPr>
          <p:nvPr/>
        </p:nvCxnSpPr>
        <p:spPr>
          <a:xfrm flipV="1">
            <a:off x="5339116" y="2489947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04E7250D-7926-9CFE-8C2E-6CC1A0CAE5AE}"/>
              </a:ext>
            </a:extLst>
          </p:cNvPr>
          <p:cNvSpPr txBox="1"/>
          <p:nvPr/>
        </p:nvSpPr>
        <p:spPr>
          <a:xfrm rot="19193406">
            <a:off x="5028113" y="2105488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data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7559DF4E-BC3E-4D31-87ED-0B7C78AB9957}"/>
              </a:ext>
            </a:extLst>
          </p:cNvPr>
          <p:cNvSpPr txBox="1"/>
          <p:nvPr/>
        </p:nvSpPr>
        <p:spPr>
          <a:xfrm rot="19193406">
            <a:off x="3956489" y="2746714"/>
            <a:ext cx="8680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descompte</a:t>
            </a:r>
            <a:endParaRPr lang="es-ES" sz="1100" dirty="0"/>
          </a:p>
        </p:txBody>
      </p: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18B24B13-B257-45E0-E534-97A457BBD90A}"/>
              </a:ext>
            </a:extLst>
          </p:cNvPr>
          <p:cNvCxnSpPr>
            <a:cxnSpLocks/>
          </p:cNvCxnSpPr>
          <p:nvPr/>
        </p:nvCxnSpPr>
        <p:spPr>
          <a:xfrm flipH="1">
            <a:off x="7600169" y="3172299"/>
            <a:ext cx="162083" cy="172807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CuadroTexto 49">
            <a:extLst>
              <a:ext uri="{FF2B5EF4-FFF2-40B4-BE49-F238E27FC236}">
                <a16:creationId xmlns:a16="http://schemas.microsoft.com/office/drawing/2014/main" id="{D89E1E1D-D12B-8416-3FED-8DA8353A885D}"/>
              </a:ext>
            </a:extLst>
          </p:cNvPr>
          <p:cNvSpPr txBox="1"/>
          <p:nvPr/>
        </p:nvSpPr>
        <p:spPr>
          <a:xfrm rot="19193406">
            <a:off x="7169023" y="3118587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IVA</a:t>
            </a:r>
          </a:p>
        </p:txBody>
      </p:sp>
      <p:cxnSp>
        <p:nvCxnSpPr>
          <p:cNvPr id="51" name="Conector recto de flecha 50">
            <a:extLst>
              <a:ext uri="{FF2B5EF4-FFF2-40B4-BE49-F238E27FC236}">
                <a16:creationId xmlns:a16="http://schemas.microsoft.com/office/drawing/2014/main" id="{0DDDC969-18D7-23D0-CBBF-FAFF5381C8F5}"/>
              </a:ext>
            </a:extLst>
          </p:cNvPr>
          <p:cNvCxnSpPr>
            <a:cxnSpLocks/>
          </p:cNvCxnSpPr>
          <p:nvPr/>
        </p:nvCxnSpPr>
        <p:spPr>
          <a:xfrm rot="10800000" flipV="1">
            <a:off x="5163751" y="2930339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CuadroTexto 51">
            <a:extLst>
              <a:ext uri="{FF2B5EF4-FFF2-40B4-BE49-F238E27FC236}">
                <a16:creationId xmlns:a16="http://schemas.microsoft.com/office/drawing/2014/main" id="{DEC0C09B-F964-5D5B-A858-E21FDF448B8E}"/>
              </a:ext>
            </a:extLst>
          </p:cNvPr>
          <p:cNvSpPr txBox="1"/>
          <p:nvPr/>
        </p:nvSpPr>
        <p:spPr>
          <a:xfrm rot="19193406">
            <a:off x="4280013" y="3370154"/>
            <a:ext cx="11619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Preu_final_IVA</a:t>
            </a:r>
            <a:endParaRPr lang="es-ES" sz="1100" dirty="0"/>
          </a:p>
        </p:txBody>
      </p: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61BE4F4C-33C2-F1D6-686B-F7649E6D4B15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4740871" y="2862847"/>
            <a:ext cx="182499" cy="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4030B03C-8C97-ADC9-17AE-D02B3D43CE38}"/>
              </a:ext>
            </a:extLst>
          </p:cNvPr>
          <p:cNvCxnSpPr>
            <a:cxnSpLocks/>
          </p:cNvCxnSpPr>
          <p:nvPr/>
        </p:nvCxnSpPr>
        <p:spPr>
          <a:xfrm flipV="1">
            <a:off x="8201177" y="2610024"/>
            <a:ext cx="115708" cy="179255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CuadroTexto 61">
            <a:extLst>
              <a:ext uri="{FF2B5EF4-FFF2-40B4-BE49-F238E27FC236}">
                <a16:creationId xmlns:a16="http://schemas.microsoft.com/office/drawing/2014/main" id="{74E09357-FAB6-646C-8C79-64E3051353E7}"/>
              </a:ext>
            </a:extLst>
          </p:cNvPr>
          <p:cNvSpPr txBox="1"/>
          <p:nvPr/>
        </p:nvSpPr>
        <p:spPr>
          <a:xfrm>
            <a:off x="8211709" y="2332927"/>
            <a:ext cx="8680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quantitat</a:t>
            </a:r>
            <a:endParaRPr lang="es-ES" sz="1100" dirty="0"/>
          </a:p>
        </p:txBody>
      </p:sp>
      <p:cxnSp>
        <p:nvCxnSpPr>
          <p:cNvPr id="73" name="Conector: angular 72">
            <a:extLst>
              <a:ext uri="{FF2B5EF4-FFF2-40B4-BE49-F238E27FC236}">
                <a16:creationId xmlns:a16="http://schemas.microsoft.com/office/drawing/2014/main" id="{BF714A0B-7B4C-ECF9-0E46-213D4D2BE808}"/>
              </a:ext>
            </a:extLst>
          </p:cNvPr>
          <p:cNvCxnSpPr>
            <a:cxnSpLocks/>
            <a:stCxn id="88" idx="3"/>
            <a:endCxn id="15" idx="2"/>
          </p:cNvCxnSpPr>
          <p:nvPr/>
        </p:nvCxnSpPr>
        <p:spPr>
          <a:xfrm flipV="1">
            <a:off x="8926912" y="3265209"/>
            <a:ext cx="970506" cy="1549142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94">
            <a:extLst>
              <a:ext uri="{FF2B5EF4-FFF2-40B4-BE49-F238E27FC236}">
                <a16:creationId xmlns:a16="http://schemas.microsoft.com/office/drawing/2014/main" id="{39D38588-1AFE-A6D0-96F0-8ABD40111F31}"/>
              </a:ext>
            </a:extLst>
          </p:cNvPr>
          <p:cNvCxnSpPr>
            <a:cxnSpLocks/>
            <a:stCxn id="5" idx="3"/>
            <a:endCxn id="54" idx="1"/>
          </p:cNvCxnSpPr>
          <p:nvPr/>
        </p:nvCxnSpPr>
        <p:spPr>
          <a:xfrm>
            <a:off x="6333945" y="2862847"/>
            <a:ext cx="897869" cy="917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39C4871C-456B-0598-047E-3412E933AA23}"/>
              </a:ext>
            </a:extLst>
          </p:cNvPr>
          <p:cNvSpPr txBox="1"/>
          <p:nvPr/>
        </p:nvSpPr>
        <p:spPr>
          <a:xfrm>
            <a:off x="2091926" y="1572771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Telèfon</a:t>
            </a:r>
            <a:endParaRPr lang="es-ES" sz="1100" u="sng" dirty="0"/>
          </a:p>
        </p:txBody>
      </p:sp>
      <p:cxnSp>
        <p:nvCxnSpPr>
          <p:cNvPr id="109" name="Conector recto de flecha 108">
            <a:extLst>
              <a:ext uri="{FF2B5EF4-FFF2-40B4-BE49-F238E27FC236}">
                <a16:creationId xmlns:a16="http://schemas.microsoft.com/office/drawing/2014/main" id="{88E65217-DBC4-8455-628D-D3A4BF79C733}"/>
              </a:ext>
            </a:extLst>
          </p:cNvPr>
          <p:cNvCxnSpPr>
            <a:cxnSpLocks/>
          </p:cNvCxnSpPr>
          <p:nvPr/>
        </p:nvCxnSpPr>
        <p:spPr>
          <a:xfrm>
            <a:off x="2404652" y="1316105"/>
            <a:ext cx="0" cy="201114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907FBA10-7F56-DB74-F420-B92F05B266CB}"/>
              </a:ext>
            </a:extLst>
          </p:cNvPr>
          <p:cNvCxnSpPr>
            <a:cxnSpLocks/>
          </p:cNvCxnSpPr>
          <p:nvPr/>
        </p:nvCxnSpPr>
        <p:spPr>
          <a:xfrm rot="10800000" flipV="1">
            <a:off x="9475839" y="3194844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8A31368B-4897-2EB3-99C7-3F5B309731A3}"/>
              </a:ext>
            </a:extLst>
          </p:cNvPr>
          <p:cNvCxnSpPr>
            <a:cxnSpLocks/>
          </p:cNvCxnSpPr>
          <p:nvPr/>
        </p:nvCxnSpPr>
        <p:spPr>
          <a:xfrm rot="10800000" flipV="1">
            <a:off x="10499504" y="3191974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8BB09D92-A99C-87CF-6A58-40C20722ED65}"/>
              </a:ext>
            </a:extLst>
          </p:cNvPr>
          <p:cNvSpPr txBox="1"/>
          <p:nvPr/>
        </p:nvSpPr>
        <p:spPr>
          <a:xfrm rot="19193406">
            <a:off x="10030647" y="3487693"/>
            <a:ext cx="9341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Preu_actual</a:t>
            </a:r>
            <a:endParaRPr lang="es-ES" sz="1100" dirty="0"/>
          </a:p>
        </p:txBody>
      </p: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2DF2E6DB-BBF4-9D49-A0CD-CC17839C2ABF}"/>
              </a:ext>
            </a:extLst>
          </p:cNvPr>
          <p:cNvCxnSpPr>
            <a:cxnSpLocks/>
          </p:cNvCxnSpPr>
          <p:nvPr/>
        </p:nvCxnSpPr>
        <p:spPr>
          <a:xfrm flipV="1">
            <a:off x="5997514" y="724453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B7C30BD3-AEEF-FFDF-D6F9-DC047466DFF7}"/>
              </a:ext>
            </a:extLst>
          </p:cNvPr>
          <p:cNvSpPr txBox="1"/>
          <p:nvPr/>
        </p:nvSpPr>
        <p:spPr>
          <a:xfrm rot="19193406">
            <a:off x="5744356" y="156684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numero</a:t>
            </a:r>
          </a:p>
        </p:txBody>
      </p: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19249ED0-C2C3-FF23-C3F1-2DF1BE43C244}"/>
              </a:ext>
            </a:extLst>
          </p:cNvPr>
          <p:cNvCxnSpPr>
            <a:cxnSpLocks/>
          </p:cNvCxnSpPr>
          <p:nvPr/>
        </p:nvCxnSpPr>
        <p:spPr>
          <a:xfrm flipV="1">
            <a:off x="6043160" y="763161"/>
            <a:ext cx="196465" cy="27627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0C1097B3-AED7-FEED-AD6F-29C850CE1CEA}"/>
              </a:ext>
            </a:extLst>
          </p:cNvPr>
          <p:cNvSpPr txBox="1"/>
          <p:nvPr/>
        </p:nvSpPr>
        <p:spPr>
          <a:xfrm rot="19193406">
            <a:off x="6094053" y="284414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ciutat</a:t>
            </a:r>
            <a:endParaRPr lang="es-ES" sz="1100" dirty="0"/>
          </a:p>
        </p:txBody>
      </p: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F97AC5DC-096C-1315-413E-BE025A299045}"/>
              </a:ext>
            </a:extLst>
          </p:cNvPr>
          <p:cNvCxnSpPr>
            <a:cxnSpLocks/>
          </p:cNvCxnSpPr>
          <p:nvPr/>
        </p:nvCxnSpPr>
        <p:spPr>
          <a:xfrm flipV="1">
            <a:off x="6026993" y="915561"/>
            <a:ext cx="365032" cy="116062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uadroTexto 55">
            <a:extLst>
              <a:ext uri="{FF2B5EF4-FFF2-40B4-BE49-F238E27FC236}">
                <a16:creationId xmlns:a16="http://schemas.microsoft.com/office/drawing/2014/main" id="{7BFE344C-CB0B-DDBD-B5F7-622D270E12BE}"/>
              </a:ext>
            </a:extLst>
          </p:cNvPr>
          <p:cNvSpPr txBox="1"/>
          <p:nvPr/>
        </p:nvSpPr>
        <p:spPr>
          <a:xfrm rot="19193406">
            <a:off x="6246453" y="436814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codi_postal</a:t>
            </a:r>
            <a:endParaRPr lang="es-ES" sz="1100" dirty="0"/>
          </a:p>
        </p:txBody>
      </p: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7B0C637C-4548-38B2-01F5-02AE03BBFC97}"/>
              </a:ext>
            </a:extLst>
          </p:cNvPr>
          <p:cNvCxnSpPr>
            <a:cxnSpLocks/>
          </p:cNvCxnSpPr>
          <p:nvPr/>
        </p:nvCxnSpPr>
        <p:spPr>
          <a:xfrm rot="10800000" flipV="1">
            <a:off x="10099816" y="3206358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uadroTexto 57">
            <a:extLst>
              <a:ext uri="{FF2B5EF4-FFF2-40B4-BE49-F238E27FC236}">
                <a16:creationId xmlns:a16="http://schemas.microsoft.com/office/drawing/2014/main" id="{1D607AA6-8ECF-45B9-445A-246478FA3CF5}"/>
              </a:ext>
            </a:extLst>
          </p:cNvPr>
          <p:cNvSpPr txBox="1"/>
          <p:nvPr/>
        </p:nvSpPr>
        <p:spPr>
          <a:xfrm rot="19193406">
            <a:off x="9760350" y="3355435"/>
            <a:ext cx="9341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stock</a:t>
            </a:r>
          </a:p>
        </p:txBody>
      </p:sp>
      <p:cxnSp>
        <p:nvCxnSpPr>
          <p:cNvPr id="78" name="Conector recto de flecha 77">
            <a:extLst>
              <a:ext uri="{FF2B5EF4-FFF2-40B4-BE49-F238E27FC236}">
                <a16:creationId xmlns:a16="http://schemas.microsoft.com/office/drawing/2014/main" id="{1ED109D2-2578-2021-BE1B-4DE8FE94CD16}"/>
              </a:ext>
            </a:extLst>
          </p:cNvPr>
          <p:cNvCxnSpPr>
            <a:cxnSpLocks/>
          </p:cNvCxnSpPr>
          <p:nvPr/>
        </p:nvCxnSpPr>
        <p:spPr>
          <a:xfrm flipV="1">
            <a:off x="6016536" y="4229819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CuadroTexto 78">
            <a:extLst>
              <a:ext uri="{FF2B5EF4-FFF2-40B4-BE49-F238E27FC236}">
                <a16:creationId xmlns:a16="http://schemas.microsoft.com/office/drawing/2014/main" id="{08AAA8E1-66DD-535B-99FD-EF4314D277DC}"/>
              </a:ext>
            </a:extLst>
          </p:cNvPr>
          <p:cNvSpPr txBox="1"/>
          <p:nvPr/>
        </p:nvSpPr>
        <p:spPr>
          <a:xfrm rot="19193406">
            <a:off x="5789257" y="3653428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carrer</a:t>
            </a:r>
            <a:endParaRPr lang="es-ES" sz="1100" dirty="0"/>
          </a:p>
        </p:txBody>
      </p:sp>
      <p:cxnSp>
        <p:nvCxnSpPr>
          <p:cNvPr id="80" name="Conector recto de flecha 79">
            <a:extLst>
              <a:ext uri="{FF2B5EF4-FFF2-40B4-BE49-F238E27FC236}">
                <a16:creationId xmlns:a16="http://schemas.microsoft.com/office/drawing/2014/main" id="{0C864C6D-902C-241F-DD59-0FEDA7D376B5}"/>
              </a:ext>
            </a:extLst>
          </p:cNvPr>
          <p:cNvCxnSpPr>
            <a:cxnSpLocks/>
          </p:cNvCxnSpPr>
          <p:nvPr/>
        </p:nvCxnSpPr>
        <p:spPr>
          <a:xfrm flipV="1">
            <a:off x="6281078" y="423557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CuadroTexto 80">
            <a:extLst>
              <a:ext uri="{FF2B5EF4-FFF2-40B4-BE49-F238E27FC236}">
                <a16:creationId xmlns:a16="http://schemas.microsoft.com/office/drawing/2014/main" id="{82D8462F-7D45-B40A-3259-39566E1682A3}"/>
              </a:ext>
            </a:extLst>
          </p:cNvPr>
          <p:cNvSpPr txBox="1"/>
          <p:nvPr/>
        </p:nvSpPr>
        <p:spPr>
          <a:xfrm rot="19193406">
            <a:off x="6027920" y="3667807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numero</a:t>
            </a:r>
          </a:p>
        </p:txBody>
      </p:sp>
      <p:cxnSp>
        <p:nvCxnSpPr>
          <p:cNvPr id="83" name="Conector recto de flecha 82">
            <a:extLst>
              <a:ext uri="{FF2B5EF4-FFF2-40B4-BE49-F238E27FC236}">
                <a16:creationId xmlns:a16="http://schemas.microsoft.com/office/drawing/2014/main" id="{C23FD98C-CA64-84FD-10A2-9BED6EC76D2E}"/>
              </a:ext>
            </a:extLst>
          </p:cNvPr>
          <p:cNvCxnSpPr>
            <a:cxnSpLocks/>
          </p:cNvCxnSpPr>
          <p:nvPr/>
        </p:nvCxnSpPr>
        <p:spPr>
          <a:xfrm flipV="1">
            <a:off x="6326724" y="4274284"/>
            <a:ext cx="196465" cy="27627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CuadroTexto 86">
            <a:extLst>
              <a:ext uri="{FF2B5EF4-FFF2-40B4-BE49-F238E27FC236}">
                <a16:creationId xmlns:a16="http://schemas.microsoft.com/office/drawing/2014/main" id="{506701D7-556B-465A-D927-53C308EBEA91}"/>
              </a:ext>
            </a:extLst>
          </p:cNvPr>
          <p:cNvSpPr txBox="1"/>
          <p:nvPr/>
        </p:nvSpPr>
        <p:spPr>
          <a:xfrm rot="19193406">
            <a:off x="6377617" y="3795537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ciutat</a:t>
            </a:r>
            <a:endParaRPr lang="es-ES" sz="1100" dirty="0"/>
          </a:p>
        </p:txBody>
      </p:sp>
      <p:cxnSp>
        <p:nvCxnSpPr>
          <p:cNvPr id="92" name="Conector recto de flecha 91">
            <a:extLst>
              <a:ext uri="{FF2B5EF4-FFF2-40B4-BE49-F238E27FC236}">
                <a16:creationId xmlns:a16="http://schemas.microsoft.com/office/drawing/2014/main" id="{66CD2CD2-8715-8265-8054-F9147D2062DD}"/>
              </a:ext>
            </a:extLst>
          </p:cNvPr>
          <p:cNvCxnSpPr>
            <a:cxnSpLocks/>
          </p:cNvCxnSpPr>
          <p:nvPr/>
        </p:nvCxnSpPr>
        <p:spPr>
          <a:xfrm flipV="1">
            <a:off x="6310557" y="4426684"/>
            <a:ext cx="365032" cy="116062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CuadroTexto 92">
            <a:extLst>
              <a:ext uri="{FF2B5EF4-FFF2-40B4-BE49-F238E27FC236}">
                <a16:creationId xmlns:a16="http://schemas.microsoft.com/office/drawing/2014/main" id="{9142025A-EDD6-696A-CD55-C8883E6E92D6}"/>
              </a:ext>
            </a:extLst>
          </p:cNvPr>
          <p:cNvSpPr txBox="1"/>
          <p:nvPr/>
        </p:nvSpPr>
        <p:spPr>
          <a:xfrm rot="19193406">
            <a:off x="6530017" y="3947937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codi_postal</a:t>
            </a:r>
            <a:endParaRPr lang="es-ES" sz="1100" dirty="0"/>
          </a:p>
        </p:txBody>
      </p:sp>
      <p:sp>
        <p:nvSpPr>
          <p:cNvPr id="94" name="CuadroTexto 93">
            <a:extLst>
              <a:ext uri="{FF2B5EF4-FFF2-40B4-BE49-F238E27FC236}">
                <a16:creationId xmlns:a16="http://schemas.microsoft.com/office/drawing/2014/main" id="{A29183BE-DAB6-7EF0-EBD9-8F51E488B0E1}"/>
              </a:ext>
            </a:extLst>
          </p:cNvPr>
          <p:cNvSpPr txBox="1"/>
          <p:nvPr/>
        </p:nvSpPr>
        <p:spPr>
          <a:xfrm>
            <a:off x="224285" y="155275"/>
            <a:ext cx="1923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CORREGIT</a:t>
            </a:r>
          </a:p>
        </p:txBody>
      </p:sp>
    </p:spTree>
    <p:extLst>
      <p:ext uri="{BB962C8B-B14F-4D97-AF65-F5344CB8AC3E}">
        <p14:creationId xmlns:p14="http://schemas.microsoft.com/office/powerpoint/2010/main" val="2076591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617A7AC-BADD-A42D-FB81-FD6FAC35B1D2}"/>
              </a:ext>
            </a:extLst>
          </p:cNvPr>
          <p:cNvSpPr txBox="1"/>
          <p:nvPr/>
        </p:nvSpPr>
        <p:spPr>
          <a:xfrm>
            <a:off x="612474" y="923026"/>
            <a:ext cx="5315359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CLIENT</a:t>
            </a:r>
            <a:r>
              <a:rPr lang="es-ES" dirty="0"/>
              <a:t> (</a:t>
            </a:r>
            <a:r>
              <a:rPr lang="es-ES" u="sng" dirty="0" err="1"/>
              <a:t>ID_client</a:t>
            </a:r>
            <a:r>
              <a:rPr lang="es-ES" dirty="0"/>
              <a:t>, CIF_NIF, </a:t>
            </a:r>
            <a:r>
              <a:rPr lang="es-ES" dirty="0" err="1"/>
              <a:t>nom</a:t>
            </a:r>
            <a:r>
              <a:rPr lang="es-ES" dirty="0"/>
              <a:t>, </a:t>
            </a:r>
            <a:r>
              <a:rPr lang="es-ES" dirty="0" err="1"/>
              <a:t>carrer</a:t>
            </a:r>
            <a:r>
              <a:rPr lang="es-ES" dirty="0"/>
              <a:t>, </a:t>
            </a:r>
            <a:r>
              <a:rPr lang="es-ES" dirty="0" err="1"/>
              <a:t>num</a:t>
            </a:r>
            <a:r>
              <a:rPr lang="es-ES" dirty="0"/>
              <a:t>, </a:t>
            </a:r>
            <a:r>
              <a:rPr lang="es-ES" dirty="0" err="1"/>
              <a:t>ciutat</a:t>
            </a:r>
            <a:r>
              <a:rPr lang="es-ES" dirty="0"/>
              <a:t>, </a:t>
            </a:r>
            <a:r>
              <a:rPr lang="es-ES" dirty="0" err="1"/>
              <a:t>codi_postal</a:t>
            </a:r>
            <a:r>
              <a:rPr lang="es-ES" dirty="0"/>
              <a:t>)</a:t>
            </a:r>
            <a:br>
              <a:rPr lang="es-ES" dirty="0"/>
            </a:br>
            <a:r>
              <a:rPr lang="es-ES" dirty="0">
                <a:solidFill>
                  <a:srgbClr val="FF0000"/>
                </a:solidFill>
              </a:rPr>
              <a:t>TELÈFONS_CLIENTS</a:t>
            </a:r>
            <a:r>
              <a:rPr lang="es-ES" dirty="0"/>
              <a:t> (</a:t>
            </a:r>
            <a:r>
              <a:rPr lang="es-ES" u="sng" dirty="0" err="1"/>
              <a:t>Telèfon</a:t>
            </a:r>
            <a:r>
              <a:rPr lang="es-ES" u="sng" dirty="0"/>
              <a:t>,</a:t>
            </a:r>
            <a:r>
              <a:rPr lang="es-ES" dirty="0"/>
              <a:t> </a:t>
            </a:r>
            <a:r>
              <a:rPr lang="es-ES" dirty="0" err="1"/>
              <a:t>ID_client</a:t>
            </a:r>
            <a:r>
              <a:rPr lang="es-ES" dirty="0"/>
              <a:t>)</a:t>
            </a:r>
            <a:br>
              <a:rPr lang="es-ES" dirty="0"/>
            </a:br>
            <a:r>
              <a:rPr lang="es-ES" dirty="0" err="1"/>
              <a:t>On</a:t>
            </a:r>
            <a:endParaRPr lang="es-ES" dirty="0"/>
          </a:p>
          <a:p>
            <a:r>
              <a:rPr lang="es-ES" dirty="0"/>
              <a:t>{</a:t>
            </a:r>
            <a:r>
              <a:rPr lang="es-ES" dirty="0" err="1"/>
              <a:t>ID_client</a:t>
            </a:r>
            <a:r>
              <a:rPr lang="es-ES" dirty="0"/>
              <a:t>} referencia CLIENT</a:t>
            </a:r>
            <a:br>
              <a:rPr lang="es-ES" dirty="0"/>
            </a:br>
            <a:r>
              <a:rPr lang="es-ES" dirty="0">
                <a:solidFill>
                  <a:srgbClr val="FF0000"/>
                </a:solidFill>
              </a:rPr>
              <a:t>FACTURA </a:t>
            </a:r>
            <a:r>
              <a:rPr lang="es-ES" dirty="0"/>
              <a:t>(</a:t>
            </a:r>
            <a:r>
              <a:rPr lang="es-ES" u="sng" dirty="0" err="1"/>
              <a:t>ID_factura</a:t>
            </a:r>
            <a:r>
              <a:rPr lang="es-ES" dirty="0"/>
              <a:t>, data, </a:t>
            </a:r>
            <a:r>
              <a:rPr lang="es-ES" dirty="0" err="1"/>
              <a:t>ID_client</a:t>
            </a:r>
            <a:r>
              <a:rPr lang="es-ES" dirty="0"/>
              <a:t>,  </a:t>
            </a:r>
            <a:r>
              <a:rPr lang="es-ES" dirty="0" err="1"/>
              <a:t>descompte</a:t>
            </a:r>
            <a:r>
              <a:rPr lang="es-ES" dirty="0"/>
              <a:t>, </a:t>
            </a:r>
            <a:r>
              <a:rPr lang="es-ES" dirty="0" err="1"/>
              <a:t>preu_final_IVA</a:t>
            </a:r>
            <a:r>
              <a:rPr lang="es-ES" dirty="0"/>
              <a:t>)</a:t>
            </a:r>
          </a:p>
          <a:p>
            <a:r>
              <a:rPr lang="es-ES" dirty="0" err="1"/>
              <a:t>On</a:t>
            </a:r>
            <a:endParaRPr lang="es-ES" dirty="0"/>
          </a:p>
          <a:p>
            <a:r>
              <a:rPr lang="es-ES" u="sng" dirty="0"/>
              <a:t>{ID_CLIENT} referencia CLIENT</a:t>
            </a:r>
          </a:p>
          <a:p>
            <a:r>
              <a:rPr lang="es-ES" dirty="0">
                <a:solidFill>
                  <a:srgbClr val="FF0000"/>
                </a:solidFill>
              </a:rPr>
              <a:t>PRODUCTE </a:t>
            </a:r>
            <a:r>
              <a:rPr lang="es-ES" dirty="0"/>
              <a:t>(</a:t>
            </a:r>
            <a:r>
              <a:rPr lang="es-ES" u="sng" dirty="0" err="1"/>
              <a:t>ID_prod</a:t>
            </a:r>
            <a:r>
              <a:rPr lang="es-ES" dirty="0"/>
              <a:t>, </a:t>
            </a:r>
            <a:r>
              <a:rPr lang="es-ES" dirty="0" err="1"/>
              <a:t>ID_cat</a:t>
            </a:r>
            <a:r>
              <a:rPr lang="es-ES" dirty="0"/>
              <a:t>, </a:t>
            </a:r>
            <a:r>
              <a:rPr lang="es-ES" dirty="0" err="1"/>
              <a:t>ID_prov</a:t>
            </a:r>
            <a:r>
              <a:rPr lang="es-ES" dirty="0"/>
              <a:t>, </a:t>
            </a:r>
            <a:r>
              <a:rPr lang="es-ES" dirty="0" err="1"/>
              <a:t>nom</a:t>
            </a:r>
            <a:r>
              <a:rPr lang="es-ES" dirty="0"/>
              <a:t>, </a:t>
            </a:r>
            <a:r>
              <a:rPr lang="es-ES" dirty="0" err="1"/>
              <a:t>preu_actual</a:t>
            </a:r>
            <a:r>
              <a:rPr lang="es-ES" dirty="0"/>
              <a:t>, stock)</a:t>
            </a:r>
            <a:br>
              <a:rPr lang="es-ES" dirty="0"/>
            </a:br>
            <a:r>
              <a:rPr lang="es-ES" dirty="0" err="1"/>
              <a:t>On</a:t>
            </a:r>
            <a:br>
              <a:rPr lang="es-ES" dirty="0"/>
            </a:br>
            <a:r>
              <a:rPr lang="es-ES" dirty="0"/>
              <a:t>{</a:t>
            </a:r>
            <a:r>
              <a:rPr lang="es-ES" dirty="0" err="1"/>
              <a:t>ID_cat</a:t>
            </a:r>
            <a:r>
              <a:rPr lang="es-ES" dirty="0"/>
              <a:t>} referencia CATEGORIA</a:t>
            </a:r>
            <a:br>
              <a:rPr lang="es-ES" dirty="0"/>
            </a:br>
            <a:r>
              <a:rPr lang="es-ES" dirty="0"/>
              <a:t>{</a:t>
            </a:r>
            <a:r>
              <a:rPr lang="es-ES" dirty="0" err="1"/>
              <a:t>ID_prov</a:t>
            </a:r>
            <a:r>
              <a:rPr lang="es-ES" dirty="0"/>
              <a:t>} referencia PROVEÏDOR</a:t>
            </a:r>
          </a:p>
          <a:p>
            <a:r>
              <a:rPr lang="es-ES" dirty="0">
                <a:solidFill>
                  <a:srgbClr val="FF0000"/>
                </a:solidFill>
              </a:rPr>
              <a:t>FACTURA_PRODUCTE </a:t>
            </a:r>
            <a:r>
              <a:rPr lang="es-ES" dirty="0"/>
              <a:t>(</a:t>
            </a:r>
            <a:r>
              <a:rPr lang="es-ES" u="sng" dirty="0" err="1"/>
              <a:t>ID_factura+ID_prod</a:t>
            </a:r>
            <a:r>
              <a:rPr lang="es-ES" dirty="0"/>
              <a:t>, </a:t>
            </a:r>
            <a:r>
              <a:rPr lang="es-ES" dirty="0" err="1"/>
              <a:t>quantitat</a:t>
            </a:r>
            <a:r>
              <a:rPr lang="es-ES" dirty="0"/>
              <a:t>, IVA, </a:t>
            </a:r>
            <a:r>
              <a:rPr lang="es-ES" dirty="0" err="1"/>
              <a:t>preu_venta</a:t>
            </a:r>
            <a:endParaRPr lang="es-ES" dirty="0"/>
          </a:p>
          <a:p>
            <a:r>
              <a:rPr lang="es-ES" dirty="0" err="1"/>
              <a:t>On</a:t>
            </a:r>
            <a:br>
              <a:rPr lang="es-ES" dirty="0"/>
            </a:br>
            <a:r>
              <a:rPr lang="es-ES" dirty="0"/>
              <a:t>{</a:t>
            </a:r>
            <a:r>
              <a:rPr lang="es-ES" dirty="0" err="1"/>
              <a:t>ID_factura</a:t>
            </a:r>
            <a:r>
              <a:rPr lang="es-ES" dirty="0"/>
              <a:t>} referencia FACTURA</a:t>
            </a:r>
            <a:br>
              <a:rPr lang="es-ES" dirty="0"/>
            </a:br>
            <a:r>
              <a:rPr lang="es-ES" dirty="0"/>
              <a:t>{ID_ </a:t>
            </a:r>
            <a:r>
              <a:rPr lang="es-ES" dirty="0" err="1"/>
              <a:t>prod</a:t>
            </a:r>
            <a:r>
              <a:rPr lang="es-ES" dirty="0"/>
              <a:t>} referencia PRODUCTE</a:t>
            </a:r>
          </a:p>
          <a:p>
            <a:r>
              <a:rPr lang="es-ES" dirty="0">
                <a:solidFill>
                  <a:srgbClr val="FF0000"/>
                </a:solidFill>
              </a:rPr>
              <a:t>CATEGORIA </a:t>
            </a:r>
            <a:r>
              <a:rPr lang="es-ES" dirty="0"/>
              <a:t>(</a:t>
            </a:r>
            <a:r>
              <a:rPr lang="es-ES" u="sng" dirty="0" err="1"/>
              <a:t>ID_cat</a:t>
            </a:r>
            <a:r>
              <a:rPr lang="es-ES" dirty="0"/>
              <a:t>, descripción, </a:t>
            </a:r>
            <a:r>
              <a:rPr lang="es-ES" dirty="0" err="1"/>
              <a:t>nom</a:t>
            </a:r>
            <a:r>
              <a:rPr lang="es-ES" dirty="0"/>
              <a:t>)</a:t>
            </a:r>
          </a:p>
          <a:p>
            <a:endParaRPr lang="es-ES" dirty="0"/>
          </a:p>
          <a:p>
            <a:endParaRPr lang="es-ES" dirty="0">
              <a:solidFill>
                <a:srgbClr val="FF0000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0CF9178-2770-A833-FDFB-0A2D022FB051}"/>
              </a:ext>
            </a:extLst>
          </p:cNvPr>
          <p:cNvSpPr txBox="1"/>
          <p:nvPr/>
        </p:nvSpPr>
        <p:spPr>
          <a:xfrm>
            <a:off x="6672190" y="930286"/>
            <a:ext cx="5315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PROVEÏDOR </a:t>
            </a:r>
            <a:r>
              <a:rPr lang="es-ES" dirty="0"/>
              <a:t>(</a:t>
            </a:r>
            <a:r>
              <a:rPr lang="es-ES" u="sng" dirty="0" err="1"/>
              <a:t>ID_prov</a:t>
            </a:r>
            <a:r>
              <a:rPr lang="es-ES" dirty="0"/>
              <a:t>, CIF_NIF, </a:t>
            </a:r>
            <a:r>
              <a:rPr lang="es-ES" dirty="0" err="1"/>
              <a:t>nom</a:t>
            </a:r>
            <a:r>
              <a:rPr lang="es-ES" dirty="0"/>
              <a:t>, </a:t>
            </a:r>
            <a:r>
              <a:rPr lang="es-ES" dirty="0" err="1"/>
              <a:t>carrer</a:t>
            </a:r>
            <a:r>
              <a:rPr lang="es-ES" dirty="0"/>
              <a:t>, numero, </a:t>
            </a:r>
            <a:r>
              <a:rPr lang="es-ES" dirty="0" err="1"/>
              <a:t>ciutat</a:t>
            </a:r>
            <a:r>
              <a:rPr lang="es-ES" dirty="0"/>
              <a:t>, </a:t>
            </a:r>
            <a:r>
              <a:rPr lang="es-ES" dirty="0" err="1"/>
              <a:t>codi_postal</a:t>
            </a:r>
            <a:r>
              <a:rPr lang="es-ES" dirty="0"/>
              <a:t>, </a:t>
            </a:r>
            <a:r>
              <a:rPr lang="es-ES" dirty="0" err="1"/>
              <a:t>telefon</a:t>
            </a:r>
            <a:r>
              <a:rPr lang="es-ES" dirty="0"/>
              <a:t>, web</a:t>
            </a:r>
            <a:r>
              <a:rPr lang="es-ES" u="sng" dirty="0"/>
              <a:t>)</a:t>
            </a:r>
            <a:br>
              <a:rPr lang="es-ES" dirty="0"/>
            </a:br>
            <a:endParaRPr lang="es-ES" dirty="0">
              <a:solidFill>
                <a:srgbClr val="FF0000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64C72FC-E046-B03F-7407-BB1F6D7618F8}"/>
              </a:ext>
            </a:extLst>
          </p:cNvPr>
          <p:cNvSpPr txBox="1"/>
          <p:nvPr/>
        </p:nvSpPr>
        <p:spPr>
          <a:xfrm>
            <a:off x="224285" y="155275"/>
            <a:ext cx="1923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CORREGIT</a:t>
            </a:r>
          </a:p>
        </p:txBody>
      </p:sp>
    </p:spTree>
    <p:extLst>
      <p:ext uri="{BB962C8B-B14F-4D97-AF65-F5344CB8AC3E}">
        <p14:creationId xmlns:p14="http://schemas.microsoft.com/office/powerpoint/2010/main" val="17222284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808</Words>
  <Application>Microsoft Office PowerPoint</Application>
  <PresentationFormat>Panorámica</PresentationFormat>
  <Paragraphs>222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Alumne_tarda1</dc:creator>
  <cp:lastModifiedBy>Alumne_tarda1</cp:lastModifiedBy>
  <cp:revision>3</cp:revision>
  <cp:lastPrinted>2026-10-26T14:50:36Z</cp:lastPrinted>
  <dcterms:created xsi:type="dcterms:W3CDTF">2026-10-26T14:49:42Z</dcterms:created>
  <dcterms:modified xsi:type="dcterms:W3CDTF">2026-10-26T17:59:38Z</dcterms:modified>
</cp:coreProperties>
</file>